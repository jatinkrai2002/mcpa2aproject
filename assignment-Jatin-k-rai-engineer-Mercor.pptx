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88" r:id="rId4"/>
    <p:sldId id="269" r:id="rId5"/>
    <p:sldId id="265" r:id="rId6"/>
    <p:sldId id="268" r:id="rId7"/>
    <p:sldId id="267" r:id="rId8"/>
    <p:sldId id="266" r:id="rId9"/>
    <p:sldId id="287" r:id="rId10"/>
    <p:sldId id="289" r:id="rId11"/>
    <p:sldId id="290" r:id="rId12"/>
    <p:sldId id="295" r:id="rId13"/>
    <p:sldId id="296" r:id="rId14"/>
    <p:sldId id="297" r:id="rId15"/>
    <p:sldId id="263" r:id="rId16"/>
    <p:sldId id="271" r:id="rId17"/>
    <p:sldId id="298" r:id="rId18"/>
    <p:sldId id="270" r:id="rId19"/>
    <p:sldId id="273" r:id="rId20"/>
    <p:sldId id="276" r:id="rId21"/>
    <p:sldId id="278" r:id="rId22"/>
    <p:sldId id="275" r:id="rId23"/>
    <p:sldId id="285" r:id="rId24"/>
    <p:sldId id="286" r:id="rId25"/>
    <p:sldId id="299" r:id="rId26"/>
    <p:sldId id="284" r:id="rId27"/>
    <p:sldId id="300" r:id="rId28"/>
    <p:sldId id="277" r:id="rId29"/>
    <p:sldId id="274" r:id="rId30"/>
    <p:sldId id="279" r:id="rId31"/>
    <p:sldId id="280" r:id="rId32"/>
    <p:sldId id="281" r:id="rId33"/>
    <p:sldId id="282" r:id="rId34"/>
    <p:sldId id="283" r:id="rId35"/>
    <p:sldId id="293" r:id="rId36"/>
    <p:sldId id="294" r:id="rId37"/>
    <p:sldId id="29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E31B5E-6254-4D58-957A-66A15FBD4D03}">
          <p14:sldIdLst>
            <p14:sldId id="256"/>
            <p14:sldId id="257"/>
          </p14:sldIdLst>
        </p14:section>
        <p14:section name="Reuirement" id="{25347700-85A9-43CD-9413-D7A5C3A2130C}">
          <p14:sldIdLst>
            <p14:sldId id="288"/>
            <p14:sldId id="269"/>
            <p14:sldId id="265"/>
            <p14:sldId id="268"/>
            <p14:sldId id="267"/>
            <p14:sldId id="266"/>
            <p14:sldId id="287"/>
          </p14:sldIdLst>
        </p14:section>
        <p14:section name="Approach" id="{9A6AB4E9-46BE-4D9F-8276-F6393154BE76}">
          <p14:sldIdLst>
            <p14:sldId id="289"/>
            <p14:sldId id="290"/>
            <p14:sldId id="295"/>
            <p14:sldId id="296"/>
          </p14:sldIdLst>
        </p14:section>
        <p14:section name="Solutions" id="{461F85D7-1425-4CBE-8D78-FAAFD63EC8EF}">
          <p14:sldIdLst>
            <p14:sldId id="297"/>
            <p14:sldId id="263"/>
            <p14:sldId id="271"/>
          </p14:sldIdLst>
        </p14:section>
        <p14:section name="Design" id="{38841B81-79EB-4C02-9EF7-191BF800DBBF}">
          <p14:sldIdLst>
            <p14:sldId id="298"/>
            <p14:sldId id="270"/>
            <p14:sldId id="273"/>
            <p14:sldId id="276"/>
            <p14:sldId id="278"/>
            <p14:sldId id="275"/>
            <p14:sldId id="285"/>
            <p14:sldId id="286"/>
          </p14:sldIdLst>
        </p14:section>
        <p14:section name="Logging" id="{AB69F4A2-0E56-4546-BEE0-2D4E41621FD7}">
          <p14:sldIdLst>
            <p14:sldId id="299"/>
            <p14:sldId id="284"/>
          </p14:sldIdLst>
        </p14:section>
        <p14:section name="Implementation" id="{E6FB9C18-D036-4EF0-A465-84502B29AA06}">
          <p14:sldIdLst>
            <p14:sldId id="300"/>
            <p14:sldId id="277"/>
          </p14:sldIdLst>
        </p14:section>
        <p14:section name="Test cases" id="{D82AD790-1A73-487D-BE36-E5E70C87045E}">
          <p14:sldIdLst>
            <p14:sldId id="274"/>
            <p14:sldId id="279"/>
            <p14:sldId id="280"/>
          </p14:sldIdLst>
        </p14:section>
        <p14:section name="Deployment" id="{10A0F2CB-B101-46A0-93C6-76B265BE9249}">
          <p14:sldIdLst>
            <p14:sldId id="281"/>
          </p14:sldIdLst>
        </p14:section>
        <p14:section name="Prodcution" id="{283920AA-DBCB-4100-BCC2-656EFE25E179}">
          <p14:sldIdLst>
            <p14:sldId id="282"/>
            <p14:sldId id="283"/>
            <p14:sldId id="293"/>
            <p14:sldId id="294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003" autoAdjust="0"/>
  </p:normalViewPr>
  <p:slideViewPr>
    <p:cSldViewPr snapToGrid="0">
      <p:cViewPr varScale="1">
        <p:scale>
          <a:sx n="79" d="100"/>
          <a:sy n="79" d="100"/>
        </p:scale>
        <p:origin x="1022" y="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006E0F-1DF5-4E90-8AD8-FC8C9D01F9E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FE20A6-030E-40AF-8ED6-2134E16EA6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728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331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assignment involves designing and building an Agentic KPI Builder, an AI-assisted workflow that allows a user to create custom KPIs through a guided, conversational interface. A synthetic dataset (operations_events.csv) is included for you to work with.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review the problem statement carefully before beginning. You are expected to submit your solution within 1 day of receiving this email.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 details: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Share your solution as a ZIP file (Must be deployable through docker)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Include a README with setup and run instructions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Ensure the application runs locally with a single command (docker compose command)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questions regarding the problem statement, feel free to reach out.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795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A0782-84F2-7944-C669-DD136736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C5DA4-364C-9BDF-8307-EAF9743AA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8BC26F-F31D-F765-D02B-A3B040299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56D8B-9EB5-16DE-C751-B969A4685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585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2F94F-1E83-A7B1-53EF-E0572E9D3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40C88-2270-BE32-FFF7-806D310D3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4326C-B54E-5BDA-5A0C-D052190E5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BD39C-840B-63ED-1AB8-455F789EF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52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D1E68-1EF1-60F6-1D92-ACC3F63DE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6BB30-EFB5-0805-6E46-5B3CDAA3C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1DF82-99D8-FABB-84D7-04AA9A19D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F42E8-0300-86F4-BD30-B42A4B976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168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91B66-3D4F-BB3F-F168-B56CBBCDC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9D78BD-EEBA-50D8-1BBC-5C0098B59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6A977-8579-B9AE-2CC2-4DB460708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submission will be assessed across the following dimensions. Partial credit is available for each. Strong candidates will demonstrate product thinking beyond just technical implementation.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3B55D-CEC0-7581-8AD9-3C9A85F62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897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A8488-137C-CBA1-C01E-B01AAE30C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C27BF-57C4-31FA-204B-E3FE67D7F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59CA3-B845-35F2-F0B8-7ACAFEDC8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assignment involves designing and building an Agentic KPI Builder, an AI-assisted workflow that allows a user to create custom KPIs through a guided, conversational interface. A synthetic dataset (operations_events.csv) is included for you to work with.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review the problem statement carefully before beginning. You are expected to submit your solution within 1 day of receiving this email.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 details: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Share your solution as a ZIP file (Must be deployable through docker)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Include a README with setup and run instructions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Ensure the application runs locally with a single command (docker compose command)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questions regarding the problem statement, feel free to reach out.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EB08D-2980-3173-3DB0-2A69CDF79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313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F0CE7-DAC5-3D73-6A35-3D3DA3D9B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A586E-D6CD-CE83-572A-96E465F93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67863-9B8B-53B2-850A-5EC22B833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346CA-541F-4899-1EC3-FE74D63CD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723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170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98EE-835E-9937-6287-E897476A8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55601-CEEF-9834-969E-AE99D9665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E7251-E27D-FC79-E2EF-FCE0C807D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assignment involves designing and building an Agentic KPI Builder, an AI-assisted workflow that allows a user to create custom KPIs through a guided, conversational interface. A synthetic dataset (operations_events.csv) is included for you to work with.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review the problem statement carefully before beginning. You are expected to submit your solution within 1 day of receiving this email.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 details: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Share your solution as a ZIP file (Must be deployable through docker)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Include a README with setup and run instructions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Ensure the application runs locally with a single command (docker compose command)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questions regarding the problem statement, feel free to reach out.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53336-9299-B4D5-58BF-7B9D2C43A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948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DB5E-6992-9A63-6F76-7C7A3276A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CA17A-ED13-20C0-E432-9E38DFA60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D8DEB-4FDE-D443-6A74-2B8621920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assignment involves designing and building an Agentic KPI Builder, an AI-assisted workflow that allows a user to create custom KPIs through a guided, conversational interface. A synthetic dataset (operations_events.csv) is included for you to work with.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review the problem statement carefully before beginning. You are expected to submit your solution within 1 day of receiving this email.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 details: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Share your solution as a ZIP file (Must be deployable through docker)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Include a README with setup and run instructions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Ensure the application runs locally with a single command (docker compose command)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questions regarding the problem statement, feel free to reach out.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2EC6F-357F-3500-C10B-3CA826C3C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2408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7D5D8-24F9-8265-4741-E294F2A9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EC04A7-1474-1CD6-A97D-D99E4770F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984EF-675A-BAC2-6DC2-BA96C74C4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assignment involves designing and building an Agentic KPI Builder, an AI-assisted workflow that allows a user to create custom KPIs through a guided, conversational interface. A synthetic dataset (operations_events.csv) is included for you to work with.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review the problem statement carefully before beginning. You are expected to submit your solution within 1 day of receiving this email.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 details: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Share your solution as a ZIP file (Must be deployable through docker)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Include a README with setup and run instructions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Ensure the application runs locally with a single command (docker compose command)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questions regarding the problem statement, feel free to reach out.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8DD5C-81A5-18C8-20D8-D75B2D0A17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567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FEA24-41BC-F9F6-E179-FE16A760D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C43DB-FBE9-1CBB-931E-F8A9ECF7B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A9329-911F-BB06-5041-6F7FDE46C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44189-42A4-4EB8-68A8-2D29C9F48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495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99C29-BD67-7433-5CE8-CA22C4EF0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0CC746-49D4-D994-E365-029B54412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34E02-78D0-F5DC-DD15-28963B3CF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0E170-B734-F06B-88EF-DAE31422C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263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25AE0-660A-484C-C0AE-969979742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563A6-F3D7-29D9-C90A-331B68FAB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AF09D-F0E5-E03E-031E-3E323543F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assignment involves designing and building an Agentic KPI Builder, an AI-assisted workflow that allows a user to create custom KPIs through a guided, conversational interface. A synthetic dataset (operations_events.csv) is included for you to work with.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review the problem statement carefully before beginning. You are expected to submit your solution within 1 day of receiving this email.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 details: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Share your solution as a ZIP file (Must be deployable through docker)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Include a README with setup and run instructions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Ensure the application runs locally with a single command (docker compose command)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questions regarding the problem statement, feel free to reach out.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6275A-C436-9D31-5F89-C3CECA2C1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8628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D6FFD-0197-5F9A-D4EC-9A8A93454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132A24-0AC7-DD9C-2014-FF4433FA7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5416D-7651-2EBD-6929-DDD090A56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F078A-098F-47FD-C6E3-08799D0D0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8264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9721C-C0B5-344A-DB89-A9B3A8B2F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A901B-92A9-184C-3581-48A1F6466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F0058-D0EE-6123-557C-E3ACDE813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assignment involves designing and building an Agentic KPI Builder, an AI-assisted workflow that allows a user to create custom KPIs through a guided, conversational interface. A synthetic dataset (operations_events.csv) is included for you to work with.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review the problem statement carefully before beginning. You are expected to submit your solution within 1 day of receiving this email.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 details: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Share your solution as a ZIP file (Must be deployable through docker)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Include a README with setup and run instructions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Ensure the application runs locally with a single command (docker compose command)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questions regarding the problem statement, feel free to reach out.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57CCF-07E0-4191-06AA-6FDCB3F27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4534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A816D-B0A4-A714-74DA-E4DED8E3F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B543B-90E8-1527-9B98-F64F2C89D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85DD3-5F27-9D57-9B67-4D19D8BCF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08152-2625-5F32-0575-C9C3397F8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9574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8D0E-E0BB-F786-3435-3B6947395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6AB23-2A60-F1E6-4F59-8220B5C86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3E966-2614-3A6D-7610-1FAED8A40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294CE-B9B3-6876-F3F2-0FD34FB16E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7915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A8DED-9F0C-5F3D-7826-C3A2EEB62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032FC-79B8-1896-77C0-2D63C2B91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42D5A-AE21-A367-2E0B-43C681EC4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8D866-7C30-D380-74AB-A7A608FA8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2547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C3AEC-4265-46A1-7834-F2106FBCF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E99B3-389C-248D-227A-24E08BE98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416D9-5862-6FA9-AEFD-073B69523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assignment involves designing and building an Agentic KPI Builder, an AI-assisted workflow that allows a user to create custom KPIs through a guided, conversational interface. A synthetic dataset (operations_events.csv) is included for you to work with.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review the problem statement carefully before beginning. You are expected to submit your solution within 1 day of receiving this email.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 details: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Share your solution as a ZIP file (Must be deployable through docker)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Include a README with setup and run instructions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Ensure the application runs locally with a single command (docker compose command)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questions regarding the problem statement, feel free to reach out.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A8BAD-ED60-8679-05F0-691F6B55E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3979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D6C9B-8987-BEE0-1CED-C5CCC6948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DB48D-C98A-808F-90DA-22829F636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7B21C-F109-27C6-86D3-589F66A8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assignment involves designing and building an Agentic KPI Builder, an AI-assisted workflow that allows a user to create custom KPIs through a guided, conversational interface. A synthetic dataset (operations_events.csv) is included for you to work with.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review the problem statement carefully before beginning. You are expected to submit your solution within 1 day of receiving this email.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 details: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Share your solution as a ZIP file (Must be deployable through docker)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Include a README with setup and run instructions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Ensure the application runs locally with a single command (docker compose command)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questions regarding the problem statement, feel free to reach out.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F6C46-4650-A71C-83C9-4C848BC47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0005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CCE88-F545-E83F-7BAD-BA0D0EC95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78168-B834-1EC1-431B-95BDC636F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8436F-BA53-0759-3DD2-F77A6C756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assignment involves designing and building an Agentic KPI Builder, an AI-assisted workflow that allows a user to create custom KPIs through a guided, conversational interface. A synthetic dataset (operations_events.csv) is included for you to work with.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review the problem statement carefully before beginning. You are expected to submit your solution within 1 day of receiving this email.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 details: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Share your solution as a ZIP file (Must be deployable through docker)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Include a README with setup and run instructions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Ensure the application runs locally with a single command (docker compose command)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questions regarding the problem statement, feel free to reach out.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0E165-6922-9428-D3DD-0CEE80103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4678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2F4F1-CDFD-2A70-65BD-CCDABFB10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40322-6289-4E3B-81DC-7210557AA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057C0-D36C-5190-A656-BC6EA47A0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3BE70-ABC2-ADCB-9C41-38C301B47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4192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427DA-6ADB-0F3F-0A2F-B2CEBF125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61652-1C9B-FF1A-2393-0CA8BA9DF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03517-065D-5C72-C352-A13A348D0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assignment involves designing and building an Agentic KPI Builder, an AI-assisted workflow that allows a user to create custom KPIs through a guided, conversational interface. A synthetic dataset (operations_events.csv) is included for you to work with.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review the problem statement carefully before beginning. You are expected to submit your solution within 1 day of receiving this email.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 details: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Share your solution as a ZIP file (Must be deployable through docker)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Include a README with setup and run instructions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Ensure the application runs locally with a single command (docker compose command)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questions regarding the problem statement, feel free to reach out.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71C87-4F45-BF6D-642E-83F67DB81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6887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8D56C-C887-238F-6D55-9745A358E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AE90F-2735-A035-8A2C-E69847CB7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ED834-8472-BDAC-65D4-5BF4FF499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292F1-30B4-7D68-B14D-1A2CC733B4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9309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C9B6C-8673-7F87-8124-629BD4AF7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48F2D8-84BA-355B-778E-F0EF3C030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2D56A-99E6-A1E4-ECFC-1CE62DDCC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assignment involves designing and building an Agentic KPI Builder, an AI-assisted workflow that allows a user to create custom KPIs through a guided, conversational interface. A synthetic dataset (operations_events.csv) is included for you to work with.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review the problem statement carefully before beginning. You are expected to submit your solution within 1 day of receiving this email.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 details: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Share your solution as a ZIP file (Must be deployable through docker)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Include a README with setup and run instructions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Ensure the application runs locally with a single command (docker compose command)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questions regarding the problem statement, feel free to reach out.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3D708-33A1-9BED-D7DD-39221A6D2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3733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1922F-59E0-ED43-25AE-1DBCF6014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DEF35-08B1-562C-E854-47B19F81C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82B3D-D6A8-93B6-ED41-82CC72912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assignment involves designing and building an Agentic KPI Builder, an AI-assisted workflow that allows a user to create custom KPIs through a guided, conversational interface. A synthetic dataset (operations_events.csv) is included for you to work with.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review the problem statement carefully before beginning. You are expected to submit your solution within 1 day of receiving this email.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 details: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Share your solution as a ZIP file (Must be deployable through docker)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Include a README with setup and run instructions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Ensure the application runs locally with a single command (docker compose command)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questions regarding the problem statement, feel free to reach out.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99850-D04D-EE39-BBC1-9679955F2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9507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5AB85-9457-5805-A48C-D950D181D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481D7-30F5-0333-95E1-5519A2FEB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93729-EDBA-E73E-87C2-40FB2B157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assignment involves designing and building an Agentic KPI Builder, an AI-assisted workflow that allows a user to create custom KPIs through a guided, conversational interface. A synthetic dataset (operations_events.csv) is included for you to work with.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review the problem statement carefully before beginning. You are expected to submit your solution within 1 day of receiving this email.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 details: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Share your solution as a ZIP file (Must be deployable through docker)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Include a README with setup and run instructions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Ensure the application runs locally with a single command (docker compose command)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questions regarding the problem statement, feel free to reach out.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03C36-705A-D0E7-8109-E07FC56D4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2095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C61E6-8FD5-9097-1D18-8B255BDD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96F2E-8656-C56A-5F66-EBDED6787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A7935-0F92-48A3-7EDB-94BA2AF97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assignment involves designing and building an Agentic KPI Builder, an AI-assisted workflow that allows a user to create custom KPIs through a guided, conversational interface. A synthetic dataset (operations_events.csv) is included for you to work with.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review the problem statement carefully before beginning. You are expected to submit your solution within 1 day of receiving this email.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Submission details: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Share your solution as a ZIP file (Must be deployable through docker)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Include a README with setup and run instructions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Ensure the application runs locally with a single command (docker compose command)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have any questions regarding the problem statement, feel free to reach out.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94756-51A9-189F-41F8-17F9F16CC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7485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02BBF-AD28-642E-8A81-33EC159DA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E1C2A-76F2-3686-3784-118761BE2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50A8B-9401-5DB9-CC7B-7674E2449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AC263-F899-6D59-A60A-DC146BD01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8307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A83FC-84F8-7AD3-E412-69777AA64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EB444-5C6C-B835-88D6-81E955F81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E22FE-7C64-4BD0-B1D3-46E289D6C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490D6-80EA-1CC1-BF7C-52B7EE26C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5536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8837D-51CC-BF26-CDFD-254742C8B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16518-F924-763C-1C39-E32EAE6B4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6B083-6C6F-BF1C-B695-581700BDA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DF67D-DD3F-54AB-CCFA-856E76F0D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5803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3309B-5CCA-839B-F369-C959496C3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F6A5B-BAE2-6B2D-A720-048E217BD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CBB1D-C30D-79BD-C8E7-B6BB9BBE2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E8B06-711D-787A-08F7-698CEC81A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7531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57C96-37E0-F4EB-2477-40ED0A627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AE920-E3BE-5DB2-2E33-EF69E02C2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C4C6D-303A-1E7B-EE90-C724E733F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A06A1-A1DE-D41B-3465-E3C80AF74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4156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4527E-BE9F-DEBA-520E-2CA3B790E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609AC-06AD-ED13-4C8D-6D8755915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B1B39-6559-ABAD-58F2-183CB06DD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ED3BC-012E-669E-BDF2-FDFBD8C18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E20A6-030E-40AF-8ED6-2134E16EA6BD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449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35A92-FE3C-3A0A-A01A-E5CB2B065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58A93-177F-67FB-2208-E33F738E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57A44-7F1A-44B0-894D-940C3297A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16B67-0FD4-479E-80C5-9CCCD75BF396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9F4DA-B80C-066A-5805-1583BA22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7BEA7-1D6D-12C1-87C0-6DEC54A8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5FF2-E01B-4666-8441-BEC3A4D82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856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276B-6477-4EAA-918E-38E579EDE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3AA49-5DCC-B025-3893-B153A567D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585F-9F0D-05DD-2961-F7AC0CB45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16B67-0FD4-479E-80C5-9CCCD75BF396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1FE42-D59C-9754-8E90-4C02D2528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5A991-3313-DE83-C298-9AB684C54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5FF2-E01B-4666-8441-BEC3A4D82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62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C60AE-573D-1FC3-2C22-A63323091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0992A-3930-D04A-A5D3-C916BB033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E36BD-1538-29BD-556E-330E21A57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16B67-0FD4-479E-80C5-9CCCD75BF396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A4B08-5BFD-0812-1B35-C00673CC4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2B8DE-3743-C372-0649-7E8E5D27A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5FF2-E01B-4666-8441-BEC3A4D82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537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88E80-BC17-79AB-7251-6D9994C79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2CF9D-7878-8578-19F2-C17A6243BD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52F52-59E7-2CA2-4E7C-22C2FA68B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3C38F-ED57-6984-0959-D7B3A1B22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16B67-0FD4-479E-80C5-9CCCD75BF396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DD731-0D43-3078-38F5-94B5E1E0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4F435-2556-ACDB-9995-112642A6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5FF2-E01B-4666-8441-BEC3A4D82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507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AC16-DF4F-D7A5-D1DD-59487428F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FD94F-ACAF-75F5-DA08-1CF61AE17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38411-1BBB-BE84-0895-37B8F05C7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91CF2-B247-D530-1A74-BFC344B4B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671336-B913-3D96-BF57-3BE0E83FB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01117B-2147-0374-39FF-D9D85D1E6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16B67-0FD4-479E-80C5-9CCCD75BF396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952888-E519-E7DE-697F-81ED5D6EC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7D9A74-DD63-1951-559A-CCAE23877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5FF2-E01B-4666-8441-BEC3A4D82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22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F0F26-E380-C774-BD77-B34100093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78F183-A89A-293D-D80B-7E9E91C1D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16B67-0FD4-479E-80C5-9CCCD75BF396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F37504-F276-DA0E-C756-CF119EC80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8A116-17A4-6AD4-F0B6-654B8ADE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5FF2-E01B-4666-8441-BEC3A4D82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409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4310BD-D784-081E-65B7-93581573A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16B67-0FD4-479E-80C5-9CCCD75BF396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C35051-6747-5E7E-7731-AE3F3382B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B2491-FA85-AD2C-6EA0-8C510E499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5FF2-E01B-4666-8441-BEC3A4D82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51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AE60-D462-B422-FC49-C143A9A7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8DBFF-93C6-C461-CC7D-C783B6E41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FC393-5913-166D-C7A0-A1AC65A12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BFFA2-FF03-E5F4-05E5-02B12AC9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16B67-0FD4-479E-80C5-9CCCD75BF396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72522-5B81-468D-7272-F5AEC18BB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BAA3A-60A2-E106-069A-1AC7FFEE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5FF2-E01B-4666-8441-BEC3A4D82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494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A4278-8699-FB66-6BDA-A122DA487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11B46A-4483-A6E4-F622-C46FEFFB2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29312-5EF8-74FC-090B-0D41413C0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6AA46-20D1-8EA4-AE28-1E7CC874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16B67-0FD4-479E-80C5-9CCCD75BF396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19917-4D0B-23AB-34FD-FB3050483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450FA-9E86-FE5F-02CA-96D1E95B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5FF2-E01B-4666-8441-BEC3A4D82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79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173C-2AFA-7F52-F6CE-7E49E3753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3C446-6586-DF90-934C-EE67FC16D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69926-DE7A-9CFF-D235-2B1CFFB4E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16B67-0FD4-479E-80C5-9CCCD75BF396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86FF9-D7FE-2262-C37C-F2B0D1631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91906-2430-AA7F-213B-D7C464130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5FF2-E01B-4666-8441-BEC3A4D82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233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44DD38-F0FE-1F6E-AB54-939F810C8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D62B46-F198-CCAD-811A-6132B2D6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BC3BB-7C6A-AACA-634B-C40724A90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16B67-0FD4-479E-80C5-9CCCD75BF396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8A503-8239-483E-4450-E6183C0C3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ABF92-8F3A-9045-B0C7-35AC4A38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5FF2-E01B-4666-8441-BEC3A4D82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22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7908B0-222C-058D-8994-5CCEC16FC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9216F-C60C-7D91-B8A6-0CD72735E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5AF13-E114-4EFB-90E6-6E79852D31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16B67-0FD4-479E-80C5-9CCCD75BF396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DA1E1-A31D-F263-09E5-761C58BD19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76987-6694-9F8E-C12C-B3131E9FEF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05FF2-E01B-4666-8441-BEC3A4D82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049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560C-4EC9-5DC9-0E25-D2F99B139D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AI Engineer Applications - Problem Statement - Agentic KPI Builder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3EF5B7-2B52-E6F5-1279-04C62E10C8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200" dirty="0"/>
              <a:t>Jatin K Rai</a:t>
            </a:r>
          </a:p>
          <a:p>
            <a:r>
              <a:rPr lang="en-IN" sz="3200" dirty="0"/>
              <a:t>+1-618-203-6737</a:t>
            </a:r>
          </a:p>
          <a:p>
            <a:r>
              <a:rPr lang="en-IN" sz="3200" dirty="0"/>
              <a:t>Jatinkrai2002@gmail.com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28AB60-762E-6B12-E526-21928BD44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93" y="66534"/>
            <a:ext cx="2067213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654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5B22C5-8F32-DD31-42DD-5B7427F62C3F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Statement: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864441-C4AB-0FFD-0E2B-6465A3043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25" y="1969341"/>
            <a:ext cx="11327549" cy="44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03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DD0790-5D0B-FAF9-A581-40AEB7DD5D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082"/>
          <a:stretch>
            <a:fillRect/>
          </a:stretch>
        </p:blipFill>
        <p:spPr>
          <a:xfrm>
            <a:off x="1263578" y="2811725"/>
            <a:ext cx="9664846" cy="105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50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AD16C-5E51-775F-F26E-5774524C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710381-F162-6833-510B-9DC6567E37F1}"/>
              </a:ext>
            </a:extLst>
          </p:cNvPr>
          <p:cNvSpPr txBox="1"/>
          <p:nvPr/>
        </p:nvSpPr>
        <p:spPr>
          <a:xfrm>
            <a:off x="532567" y="894079"/>
            <a:ext cx="7063721" cy="964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4000" b="1" kern="1200" dirty="0">
                <a:solidFill>
                  <a:srgbClr val="FFFFFF"/>
                </a:solidFill>
                <a:highlight>
                  <a:srgbClr val="C0C0C0"/>
                </a:highlight>
                <a:latin typeface="+mj-lt"/>
                <a:ea typeface="+mj-ea"/>
                <a:cs typeface="+mj-cs"/>
              </a:rPr>
              <a:t>KPI Name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F26A00-60CA-34B0-C808-249AC9EF2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453" y="1488820"/>
            <a:ext cx="6477542" cy="54535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948B9A-1032-16EC-FB22-6ADD7ECB1CC8}"/>
              </a:ext>
            </a:extLst>
          </p:cNvPr>
          <p:cNvSpPr txBox="1"/>
          <p:nvPr/>
        </p:nvSpPr>
        <p:spPr>
          <a:xfrm>
            <a:off x="6644640" y="1727200"/>
            <a:ext cx="5415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Analysis:</a:t>
            </a:r>
          </a:p>
          <a:p>
            <a:endParaRPr lang="en-IN" dirty="0"/>
          </a:p>
          <a:p>
            <a:r>
              <a:rPr lang="en-IN" dirty="0" err="1"/>
              <a:t>KPIName</a:t>
            </a:r>
            <a:r>
              <a:rPr lang="en-IN" dirty="0" err="1">
                <a:sym typeface="Wingdings" panose="05000000000000000000" pitchFamily="2" charset="2"/>
              </a:rPr>
              <a:t>Formula</a:t>
            </a:r>
            <a:r>
              <a:rPr lang="en-IN" dirty="0">
                <a:sym typeface="Wingdings" panose="05000000000000000000" pitchFamily="2" charset="2"/>
              </a:rPr>
              <a:t>/Logic  Metric Type Expected Value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5233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F81B-371B-C95E-9F0D-E91DFFCC6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0F3D22-B957-16E0-9084-F580857BDF84}"/>
              </a:ext>
            </a:extLst>
          </p:cNvPr>
          <p:cNvSpPr txBox="1"/>
          <p:nvPr/>
        </p:nvSpPr>
        <p:spPr>
          <a:xfrm>
            <a:off x="532567" y="894079"/>
            <a:ext cx="7063721" cy="964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2000" dirty="0">
                <a:highlight>
                  <a:srgbClr val="C0C0C0"/>
                </a:highlight>
              </a:rPr>
              <a:t>Agentic Flow &amp; State Management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E11E19-C4B3-605B-9F7A-DFF570298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4310"/>
            <a:ext cx="7287642" cy="37914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954E4F-4F01-6E95-3D86-7512E17AD505}"/>
              </a:ext>
            </a:extLst>
          </p:cNvPr>
          <p:cNvSpPr txBox="1"/>
          <p:nvPr/>
        </p:nvSpPr>
        <p:spPr>
          <a:xfrm>
            <a:off x="7287642" y="1686560"/>
            <a:ext cx="47519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Assumptions:</a:t>
            </a:r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pre-defined KPIs name in the memory of Agentic Application.</a:t>
            </a:r>
          </a:p>
          <a:p>
            <a:pPr marL="342900" indent="-342900">
              <a:buAutoNum type="arabicPeriod"/>
            </a:pPr>
            <a:r>
              <a:rPr lang="en-IN" dirty="0"/>
              <a:t>Each KPIs name with step by step computed result.</a:t>
            </a:r>
          </a:p>
          <a:p>
            <a:pPr marL="342900" indent="-342900">
              <a:buAutoNum type="arabicPeriod"/>
            </a:pPr>
            <a:r>
              <a:rPr lang="en-IN" dirty="0"/>
              <a:t>a. LLM will be used to generate 3-4 contextual multiple choice questions.</a:t>
            </a:r>
          </a:p>
          <a:p>
            <a:r>
              <a:rPr lang="en-IN" dirty="0"/>
              <a:t>3. b. </a:t>
            </a:r>
            <a:r>
              <a:rPr lang="en-IN" strike="sngStrike" dirty="0">
                <a:solidFill>
                  <a:srgbClr val="FF0000"/>
                </a:solidFill>
              </a:rPr>
              <a:t>SQL statement/</a:t>
            </a:r>
            <a:r>
              <a:rPr lang="en-IN" dirty="0" err="1"/>
              <a:t>pyspark</a:t>
            </a:r>
            <a:r>
              <a:rPr lang="en-IN" dirty="0"/>
              <a:t> python based code with predefined logics.</a:t>
            </a:r>
          </a:p>
          <a:p>
            <a:r>
              <a:rPr lang="en-IN" dirty="0"/>
              <a:t>3. c . Long term memory will be used in database.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65C3E-439D-214A-3425-3D760A55F8B1}"/>
              </a:ext>
            </a:extLst>
          </p:cNvPr>
          <p:cNvSpPr txBox="1"/>
          <p:nvPr/>
        </p:nvSpPr>
        <p:spPr>
          <a:xfrm>
            <a:off x="182880" y="5365789"/>
            <a:ext cx="1185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 implement an </a:t>
            </a:r>
            <a:r>
              <a:rPr lang="en-IN" b="1" dirty="0"/>
              <a:t>agentic workflow</a:t>
            </a:r>
            <a:r>
              <a:rPr lang="en-IN" dirty="0"/>
              <a:t> with </a:t>
            </a:r>
            <a:r>
              <a:rPr lang="en-IN" dirty="0" err="1"/>
              <a:t>LangGraph</a:t>
            </a:r>
            <a:r>
              <a:rPr lang="en-IN" dirty="0"/>
              <a:t> and </a:t>
            </a:r>
            <a:r>
              <a:rPr lang="en-IN" dirty="0" err="1"/>
              <a:t>LangChain</a:t>
            </a:r>
            <a:r>
              <a:rPr lang="en-IN" dirty="0"/>
              <a:t> primitives (@tool, @static, @prompt), it can model each of your KPI system functions as </a:t>
            </a:r>
            <a:r>
              <a:rPr lang="en-IN" b="1" dirty="0"/>
              <a:t>nodes</a:t>
            </a:r>
            <a:r>
              <a:rPr lang="en-IN" dirty="0"/>
              <a:t> in a graph. This gives us orchestration, self‑healing, and traceability.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62C0D-A1CE-F7F6-E8D5-29EAD180D6E1}"/>
              </a:ext>
            </a:extLst>
          </p:cNvPr>
          <p:cNvSpPr txBox="1"/>
          <p:nvPr/>
        </p:nvSpPr>
        <p:spPr>
          <a:xfrm>
            <a:off x="7745304" y="1185774"/>
            <a:ext cx="138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Analysis:</a:t>
            </a:r>
          </a:p>
        </p:txBody>
      </p:sp>
    </p:spTree>
    <p:extLst>
      <p:ext uri="{BB962C8B-B14F-4D97-AF65-F5344CB8AC3E}">
        <p14:creationId xmlns:p14="http://schemas.microsoft.com/office/powerpoint/2010/main" val="212869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20DCE-5699-FAAC-B32A-9829DCB50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3D124B-4F61-CD41-4C45-6A260397E1D7}"/>
              </a:ext>
            </a:extLst>
          </p:cNvPr>
          <p:cNvSpPr txBox="1"/>
          <p:nvPr/>
        </p:nvSpPr>
        <p:spPr>
          <a:xfrm>
            <a:off x="532567" y="894079"/>
            <a:ext cx="7063721" cy="964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dirty="0">
                <a:highlight>
                  <a:srgbClr val="C0C0C0"/>
                </a:highlight>
              </a:rPr>
              <a:t>Validation &amp; Calculation Engine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5E76F5-EE80-50DA-6CAB-894F79309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" y="1469481"/>
            <a:ext cx="7240010" cy="3248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EBD1B0-0FA6-6D33-562A-69C7C8B3CB2C}"/>
              </a:ext>
            </a:extLst>
          </p:cNvPr>
          <p:cNvSpPr txBox="1"/>
          <p:nvPr/>
        </p:nvSpPr>
        <p:spPr>
          <a:xfrm>
            <a:off x="7366000" y="1686560"/>
            <a:ext cx="46024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KPI intent and executes septs in the datasets.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Python code to reject the columns and value validation.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Python code to avoid the divide by zero.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Computed value, human readable using LLMs, etc…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8A6871-B0F5-8D40-2C37-A5B3EE65CB54}"/>
              </a:ext>
            </a:extLst>
          </p:cNvPr>
          <p:cNvSpPr txBox="1"/>
          <p:nvPr/>
        </p:nvSpPr>
        <p:spPr>
          <a:xfrm>
            <a:off x="7447280" y="1191681"/>
            <a:ext cx="281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Analysis:</a:t>
            </a:r>
          </a:p>
        </p:txBody>
      </p:sp>
    </p:spTree>
    <p:extLst>
      <p:ext uri="{BB962C8B-B14F-4D97-AF65-F5344CB8AC3E}">
        <p14:creationId xmlns:p14="http://schemas.microsoft.com/office/powerpoint/2010/main" val="4264536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928AC-0C37-924A-7463-EC4F12D6D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207FE2-1FCF-ECC5-F33A-222B6A222AB8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Assessment Criteria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8C4BE4-B1E4-D2DC-CFF1-B430A35A06F3}"/>
              </a:ext>
            </a:extLst>
          </p:cNvPr>
          <p:cNvSpPr txBox="1"/>
          <p:nvPr/>
        </p:nvSpPr>
        <p:spPr>
          <a:xfrm>
            <a:off x="2299140" y="12049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6B728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How your submission will be evaluated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8919AC-C3D4-DBA5-F935-36B3CB1F7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" y="1574310"/>
            <a:ext cx="7544853" cy="42582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5589C0-97BC-81C3-44BE-F3C18519E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420" y="1708658"/>
            <a:ext cx="2859272" cy="4877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575920-CFFD-131A-76B6-DBE18D258E70}"/>
              </a:ext>
            </a:extLst>
          </p:cNvPr>
          <p:cNvSpPr txBox="1"/>
          <p:nvPr/>
        </p:nvSpPr>
        <p:spPr>
          <a:xfrm>
            <a:off x="7701280" y="2387600"/>
            <a:ext cx="4328160" cy="20313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Agentic Flow </a:t>
            </a:r>
            <a:r>
              <a:rPr lang="en-IN" dirty="0">
                <a:sym typeface="Wingdings" panose="05000000000000000000" pitchFamily="2" charset="2"/>
              </a:rPr>
              <a:t> Approach 2  -- in progress</a:t>
            </a:r>
          </a:p>
          <a:p>
            <a:r>
              <a:rPr lang="en-IN" dirty="0">
                <a:sym typeface="Wingdings" panose="05000000000000000000" pitchFamily="2" charset="2"/>
              </a:rPr>
              <a:t>Dynamic Question  Done</a:t>
            </a:r>
          </a:p>
          <a:p>
            <a:r>
              <a:rPr lang="en-IN" dirty="0">
                <a:sym typeface="Wingdings" panose="05000000000000000000" pitchFamily="2" charset="2"/>
              </a:rPr>
              <a:t>Intent &amp; Schema  Done</a:t>
            </a:r>
          </a:p>
          <a:p>
            <a:r>
              <a:rPr lang="en-IN" dirty="0">
                <a:sym typeface="Wingdings" panose="05000000000000000000" pitchFamily="2" charset="2"/>
              </a:rPr>
              <a:t>KPI Calculation  Done</a:t>
            </a:r>
          </a:p>
          <a:p>
            <a:r>
              <a:rPr lang="en-IN" dirty="0">
                <a:sym typeface="Wingdings" panose="05000000000000000000" pitchFamily="2" charset="2"/>
              </a:rPr>
              <a:t>Review Card UX  Done</a:t>
            </a:r>
          </a:p>
          <a:p>
            <a:r>
              <a:rPr lang="en-IN" dirty="0">
                <a:sym typeface="Wingdings" panose="05000000000000000000" pitchFamily="2" charset="2"/>
              </a:rPr>
              <a:t>Code Quality  Excellent with comments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4207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FA68F-F3DD-DF68-755B-4C24C88BB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AE21C5-CA10-A34E-F2C5-F17580992E3B}"/>
              </a:ext>
            </a:extLst>
          </p:cNvPr>
          <p:cNvSpPr txBox="1"/>
          <p:nvPr/>
        </p:nvSpPr>
        <p:spPr>
          <a:xfrm>
            <a:off x="532567" y="34278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Submission Instructions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9D724-37E9-FC3E-A385-C7F27F9CCFE6}"/>
              </a:ext>
            </a:extLst>
          </p:cNvPr>
          <p:cNvSpPr txBox="1"/>
          <p:nvPr/>
        </p:nvSpPr>
        <p:spPr>
          <a:xfrm>
            <a:off x="2194560" y="11118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6B728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What to include and how to deliver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271B6F-6D99-DA5B-E7CB-DCAF38F36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69" y="1752366"/>
            <a:ext cx="7459116" cy="335326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3D4B285-F0C5-7C0B-BCA3-6C52B8493A47}"/>
              </a:ext>
            </a:extLst>
          </p:cNvPr>
          <p:cNvCxnSpPr/>
          <p:nvPr/>
        </p:nvCxnSpPr>
        <p:spPr>
          <a:xfrm flipV="1">
            <a:off x="4978400" y="1950720"/>
            <a:ext cx="387096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CA6FC0-3D81-4AF7-1343-1794018E6127}"/>
              </a:ext>
            </a:extLst>
          </p:cNvPr>
          <p:cNvCxnSpPr/>
          <p:nvPr/>
        </p:nvCxnSpPr>
        <p:spPr>
          <a:xfrm flipV="1">
            <a:off x="6095998" y="2192649"/>
            <a:ext cx="387096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0D2C35-0242-E16A-5814-37E7A0B67319}"/>
              </a:ext>
            </a:extLst>
          </p:cNvPr>
          <p:cNvCxnSpPr/>
          <p:nvPr/>
        </p:nvCxnSpPr>
        <p:spPr>
          <a:xfrm>
            <a:off x="6157797" y="3007104"/>
            <a:ext cx="3667758" cy="2438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A8DC51-6BE7-157A-443D-2B2EA06A1359}"/>
              </a:ext>
            </a:extLst>
          </p:cNvPr>
          <p:cNvCxnSpPr/>
          <p:nvPr/>
        </p:nvCxnSpPr>
        <p:spPr>
          <a:xfrm>
            <a:off x="3302000" y="3429000"/>
            <a:ext cx="5364480" cy="2997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A112F0-406A-5380-372B-ED97D4BE839C}"/>
              </a:ext>
            </a:extLst>
          </p:cNvPr>
          <p:cNvCxnSpPr>
            <a:cxnSpLocks/>
          </p:cNvCxnSpPr>
          <p:nvPr/>
        </p:nvCxnSpPr>
        <p:spPr>
          <a:xfrm>
            <a:off x="3911600" y="3860800"/>
            <a:ext cx="5110480" cy="69787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3BEDE09-6E08-D02F-6D94-DE13BA8A85B3}"/>
              </a:ext>
            </a:extLst>
          </p:cNvPr>
          <p:cNvCxnSpPr/>
          <p:nvPr/>
        </p:nvCxnSpPr>
        <p:spPr>
          <a:xfrm>
            <a:off x="4064427" y="4318000"/>
            <a:ext cx="4866213" cy="1056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FBEEE8E-BCE5-5B51-322C-5B61F0AF8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3929" y="1015110"/>
            <a:ext cx="2859272" cy="48772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31ED17-58F3-2C56-3011-1265F46E0A63}"/>
              </a:ext>
            </a:extLst>
          </p:cNvPr>
          <p:cNvSpPr txBox="1"/>
          <p:nvPr/>
        </p:nvSpPr>
        <p:spPr>
          <a:xfrm>
            <a:off x="8595360" y="1669440"/>
            <a:ext cx="3423920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Zip level with deployment script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23B2B5-A544-2264-F0B1-052AF86E69B0}"/>
              </a:ext>
            </a:extLst>
          </p:cNvPr>
          <p:cNvSpPr txBox="1"/>
          <p:nvPr/>
        </p:nvSpPr>
        <p:spPr>
          <a:xfrm>
            <a:off x="7985760" y="2411120"/>
            <a:ext cx="4155440" cy="2308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>
                <a:highlight>
                  <a:srgbClr val="00FFFF"/>
                </a:highlight>
              </a:rPr>
              <a:t>python -m </a:t>
            </a:r>
            <a:r>
              <a:rPr lang="en-US" sz="900" b="1" dirty="0" err="1">
                <a:highlight>
                  <a:srgbClr val="00FFFF"/>
                </a:highlight>
              </a:rPr>
              <a:t>streamlit</a:t>
            </a:r>
            <a:r>
              <a:rPr lang="en-US" sz="900" b="1" dirty="0">
                <a:highlight>
                  <a:srgbClr val="00FFFF"/>
                </a:highlight>
              </a:rPr>
              <a:t> run app.py --</a:t>
            </a:r>
            <a:r>
              <a:rPr lang="en-US" sz="900" b="1" dirty="0" err="1">
                <a:highlight>
                  <a:srgbClr val="00FFFF"/>
                </a:highlight>
              </a:rPr>
              <a:t>server.address</a:t>
            </a:r>
            <a:r>
              <a:rPr lang="en-US" sz="900" b="1" dirty="0">
                <a:highlight>
                  <a:srgbClr val="00FFFF"/>
                </a:highlight>
              </a:rPr>
              <a:t> 127.0.0.1 --</a:t>
            </a:r>
            <a:r>
              <a:rPr lang="en-US" sz="900" b="1" dirty="0" err="1">
                <a:highlight>
                  <a:srgbClr val="00FFFF"/>
                </a:highlight>
              </a:rPr>
              <a:t>server.port</a:t>
            </a:r>
            <a:r>
              <a:rPr lang="en-US" sz="900" b="1" dirty="0">
                <a:highlight>
                  <a:srgbClr val="00FFFF"/>
                </a:highlight>
              </a:rPr>
              <a:t> 8080</a:t>
            </a:r>
            <a:r>
              <a:rPr lang="en-IN" sz="900" b="1" dirty="0">
                <a:highlight>
                  <a:srgbClr val="00FFFF"/>
                </a:highlight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FE9721-2855-BD0E-1FAB-9B5140659887}"/>
              </a:ext>
            </a:extLst>
          </p:cNvPr>
          <p:cNvSpPr txBox="1"/>
          <p:nvPr/>
        </p:nvSpPr>
        <p:spPr>
          <a:xfrm>
            <a:off x="8747760" y="3295040"/>
            <a:ext cx="3423920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Readme file has instruction.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ECF1BA-C00B-8C03-55CE-A1F3ED90604D}"/>
              </a:ext>
            </a:extLst>
          </p:cNvPr>
          <p:cNvSpPr txBox="1"/>
          <p:nvPr/>
        </p:nvSpPr>
        <p:spPr>
          <a:xfrm>
            <a:off x="7946796" y="3769360"/>
            <a:ext cx="3423920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Env file has the keys.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C71B02-4591-EDC4-46C9-326564BDD14C}"/>
              </a:ext>
            </a:extLst>
          </p:cNvPr>
          <p:cNvSpPr txBox="1"/>
          <p:nvPr/>
        </p:nvSpPr>
        <p:spPr>
          <a:xfrm>
            <a:off x="8351520" y="4661654"/>
            <a:ext cx="3423920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Assumptions are mentioned.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2E9548-A033-73F1-7BB7-07641BA727E7}"/>
              </a:ext>
            </a:extLst>
          </p:cNvPr>
          <p:cNvSpPr txBox="1"/>
          <p:nvPr/>
        </p:nvSpPr>
        <p:spPr>
          <a:xfrm>
            <a:off x="8113595" y="5369282"/>
            <a:ext cx="3423920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Approach 2 and 3 of some codes are implemented. But partially.</a:t>
            </a:r>
          </a:p>
        </p:txBody>
      </p:sp>
    </p:spTree>
    <p:extLst>
      <p:ext uri="{BB962C8B-B14F-4D97-AF65-F5344CB8AC3E}">
        <p14:creationId xmlns:p14="http://schemas.microsoft.com/office/powerpoint/2010/main" val="2790387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CC926-6A84-69C7-7E7E-752DB499F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F616565-3916-B70C-29FE-B690AEDEA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5F980B-44C0-8D30-19FD-BAEBB93BD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E3C23C-EF19-1558-7F41-7B5FC475D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C2636E-8FB8-E0E4-2DF2-C736496F5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CA4E13-F76A-19CC-B44C-8515512AFD1A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Statement: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3EC401-545C-4ACA-BE3F-CBCF1B413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23" y="1933580"/>
            <a:ext cx="11327549" cy="44460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439D02-149C-326D-FDBA-48B1A3EFF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3565" y="113502"/>
            <a:ext cx="2457793" cy="120031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DE60C5E-BD04-CE42-D45D-44CA5C52AD4C}"/>
              </a:ext>
            </a:extLst>
          </p:cNvPr>
          <p:cNvCxnSpPr/>
          <p:nvPr/>
        </p:nvCxnSpPr>
        <p:spPr>
          <a:xfrm flipV="1">
            <a:off x="4551680" y="4876800"/>
            <a:ext cx="2712720" cy="10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C13827-A9F6-4950-8C04-338FFC903923}"/>
              </a:ext>
            </a:extLst>
          </p:cNvPr>
          <p:cNvCxnSpPr>
            <a:cxnSpLocks/>
          </p:cNvCxnSpPr>
          <p:nvPr/>
        </p:nvCxnSpPr>
        <p:spPr>
          <a:xfrm>
            <a:off x="3545840" y="5242560"/>
            <a:ext cx="4050448" cy="619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198D7D-BCAF-D7AA-6FD2-C0D997F14FED}"/>
              </a:ext>
            </a:extLst>
          </p:cNvPr>
          <p:cNvCxnSpPr>
            <a:cxnSpLocks/>
          </p:cNvCxnSpPr>
          <p:nvPr/>
        </p:nvCxnSpPr>
        <p:spPr>
          <a:xfrm>
            <a:off x="4595072" y="5552440"/>
            <a:ext cx="2328542" cy="339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1AB87FC-FCFF-D157-2DCD-F761025623A5}"/>
              </a:ext>
            </a:extLst>
          </p:cNvPr>
          <p:cNvCxnSpPr>
            <a:cxnSpLocks/>
          </p:cNvCxnSpPr>
          <p:nvPr/>
        </p:nvCxnSpPr>
        <p:spPr>
          <a:xfrm>
            <a:off x="7052728" y="4277360"/>
            <a:ext cx="2446872" cy="132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49A3974-300A-FBA9-742E-E5E49ED43634}"/>
              </a:ext>
            </a:extLst>
          </p:cNvPr>
          <p:cNvSpPr txBox="1"/>
          <p:nvPr/>
        </p:nvSpPr>
        <p:spPr>
          <a:xfrm>
            <a:off x="9499600" y="4409440"/>
            <a:ext cx="1991360" cy="92333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As per Rohith – 2 days with simple approach.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FE82C4-AC29-A735-5A7D-CB00D23CB5B2}"/>
              </a:ext>
            </a:extLst>
          </p:cNvPr>
          <p:cNvSpPr txBox="1"/>
          <p:nvPr/>
        </p:nvSpPr>
        <p:spPr>
          <a:xfrm>
            <a:off x="7355840" y="4663441"/>
            <a:ext cx="1991360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Completed with </a:t>
            </a:r>
            <a:r>
              <a:rPr lang="en-IN" dirty="0" err="1"/>
              <a:t>dockerfile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31D777-AC33-8EC4-1FD8-A9F034165459}"/>
              </a:ext>
            </a:extLst>
          </p:cNvPr>
          <p:cNvSpPr txBox="1"/>
          <p:nvPr/>
        </p:nvSpPr>
        <p:spPr>
          <a:xfrm>
            <a:off x="7736840" y="5687379"/>
            <a:ext cx="3073400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Completed with readme.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2A78AC-EE85-CC57-C200-6D173FC6522B}"/>
              </a:ext>
            </a:extLst>
          </p:cNvPr>
          <p:cNvSpPr txBox="1"/>
          <p:nvPr/>
        </p:nvSpPr>
        <p:spPr>
          <a:xfrm>
            <a:off x="5273040" y="5862320"/>
            <a:ext cx="1991360" cy="92333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Completed with docker compose with AKS also.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FA8063-0ECC-1CF2-A412-EFC4EC95DE15}"/>
              </a:ext>
            </a:extLst>
          </p:cNvPr>
          <p:cNvSpPr txBox="1"/>
          <p:nvPr/>
        </p:nvSpPr>
        <p:spPr>
          <a:xfrm>
            <a:off x="8412480" y="2873298"/>
            <a:ext cx="239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Analysis:</a:t>
            </a:r>
          </a:p>
        </p:txBody>
      </p:sp>
    </p:spTree>
    <p:extLst>
      <p:ext uri="{BB962C8B-B14F-4D97-AF65-F5344CB8AC3E}">
        <p14:creationId xmlns:p14="http://schemas.microsoft.com/office/powerpoint/2010/main" val="2911553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9BC2C-094D-9BBD-9E8D-2B9344FFC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953" y="643468"/>
            <a:ext cx="5571066" cy="5571066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52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61C4C-F724-71AA-CF5C-43DCAAA57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A83E57C-A8C8-DDDD-5138-B71BC419B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C6E652-0E23-63BC-6446-CD0CB5799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CCB7EA-C6FB-C418-4AB7-8108DBA90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BE1915-6E35-9776-D196-B544B0A42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D7AFD-D57C-EBB6-3715-583176D7E4C2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Approach 1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D239C0-701B-65DB-EEFB-C14F1626866B}"/>
              </a:ext>
            </a:extLst>
          </p:cNvPr>
          <p:cNvSpPr txBox="1"/>
          <p:nvPr/>
        </p:nvSpPr>
        <p:spPr>
          <a:xfrm>
            <a:off x="91440" y="1645787"/>
            <a:ext cx="1087120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User provides KPI Name using Conversational UI interface.</a:t>
            </a:r>
          </a:p>
          <a:p>
            <a:pPr marL="342900" indent="-342900">
              <a:buAutoNum type="arabicPeriod"/>
            </a:pPr>
            <a:r>
              <a:rPr lang="en-IN" dirty="0"/>
              <a:t>KPI Builder System will validate the KPI Name along with pre-defined </a:t>
            </a:r>
            <a:r>
              <a:rPr lang="en-IN" dirty="0" err="1"/>
              <a:t>KPIName</a:t>
            </a:r>
            <a:r>
              <a:rPr lang="en-IN" dirty="0"/>
              <a:t> in the datasets.</a:t>
            </a:r>
          </a:p>
          <a:p>
            <a:pPr marL="342900" indent="-342900">
              <a:buAutoNum type="arabicPeriod"/>
            </a:pPr>
            <a:r>
              <a:rPr lang="en-IN" dirty="0"/>
              <a:t>Provide response as Review card Interface.</a:t>
            </a:r>
          </a:p>
          <a:p>
            <a:pPr marL="342900" indent="-342900">
              <a:buAutoNum type="arabicPeriod"/>
            </a:pPr>
            <a:r>
              <a:rPr lang="en-IN" dirty="0"/>
              <a:t>In case, not found the in datasets, </a:t>
            </a:r>
            <a:r>
              <a:rPr lang="en-IN" dirty="0" err="1"/>
              <a:t>goto</a:t>
            </a:r>
            <a:r>
              <a:rPr lang="en-IN" dirty="0"/>
              <a:t> Agentic Flow – tool calling method to retrieve the information from LLM and provide response as Review card interface.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525F843-5AD5-4191-C09E-27441200CFC4}"/>
              </a:ext>
            </a:extLst>
          </p:cNvPr>
          <p:cNvSpPr/>
          <p:nvPr/>
        </p:nvSpPr>
        <p:spPr>
          <a:xfrm>
            <a:off x="532567" y="3657600"/>
            <a:ext cx="1489273" cy="12801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 interface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C5A6FF-6D6C-FE5B-A656-BF46C926B0B4}"/>
              </a:ext>
            </a:extLst>
          </p:cNvPr>
          <p:cNvSpPr/>
          <p:nvPr/>
        </p:nvSpPr>
        <p:spPr>
          <a:xfrm>
            <a:off x="2611120" y="3784600"/>
            <a:ext cx="1971040" cy="11531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KPI Builder system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F1BD52-3C10-0C5A-F6B6-A0939A267069}"/>
              </a:ext>
            </a:extLst>
          </p:cNvPr>
          <p:cNvSpPr/>
          <p:nvPr/>
        </p:nvSpPr>
        <p:spPr>
          <a:xfrm>
            <a:off x="6207760" y="3388360"/>
            <a:ext cx="2042160" cy="128016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Predefined </a:t>
            </a:r>
            <a:r>
              <a:rPr lang="en-IN" dirty="0" err="1"/>
              <a:t>KPIName</a:t>
            </a:r>
            <a:r>
              <a:rPr lang="en-IN" dirty="0"/>
              <a:t> in datasets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F111E6-810F-821C-C71E-584E8261C45B}"/>
              </a:ext>
            </a:extLst>
          </p:cNvPr>
          <p:cNvSpPr/>
          <p:nvPr/>
        </p:nvSpPr>
        <p:spPr>
          <a:xfrm>
            <a:off x="6207760" y="5283200"/>
            <a:ext cx="2661920" cy="12801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LLM Agentic Flow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A9DF3C-2CCA-D1D6-9814-853B9F341960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4582160" y="4028440"/>
            <a:ext cx="1625600" cy="332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282A8E-F483-C4FF-FB3D-6D722F3B646C}"/>
              </a:ext>
            </a:extLst>
          </p:cNvPr>
          <p:cNvCxnSpPr/>
          <p:nvPr/>
        </p:nvCxnSpPr>
        <p:spPr>
          <a:xfrm flipH="1">
            <a:off x="4582160" y="4480560"/>
            <a:ext cx="1625600" cy="284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F45D051-13BF-17C4-04CD-9E2DFC3C2AE7}"/>
              </a:ext>
            </a:extLst>
          </p:cNvPr>
          <p:cNvSpPr txBox="1"/>
          <p:nvPr/>
        </p:nvSpPr>
        <p:spPr>
          <a:xfrm>
            <a:off x="4866640" y="3870960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check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94F133-04A1-E3EC-215D-C32F31E4CE02}"/>
              </a:ext>
            </a:extLst>
          </p:cNvPr>
          <p:cNvSpPr txBox="1"/>
          <p:nvPr/>
        </p:nvSpPr>
        <p:spPr>
          <a:xfrm>
            <a:off x="5080000" y="466852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response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845252-ABC9-F65C-102C-0315685FCA2B}"/>
              </a:ext>
            </a:extLst>
          </p:cNvPr>
          <p:cNvCxnSpPr>
            <a:stCxn id="5" idx="1"/>
          </p:cNvCxnSpPr>
          <p:nvPr/>
        </p:nvCxnSpPr>
        <p:spPr>
          <a:xfrm flipH="1">
            <a:off x="2021840" y="4361180"/>
            <a:ext cx="5892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B12E53B-EBDB-AF42-AC08-0F825CA32F8E}"/>
              </a:ext>
            </a:extLst>
          </p:cNvPr>
          <p:cNvSpPr txBox="1"/>
          <p:nvPr/>
        </p:nvSpPr>
        <p:spPr>
          <a:xfrm>
            <a:off x="1894840" y="4638040"/>
            <a:ext cx="86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found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7A67E3-E11E-CAD1-1A1E-2FCD2F2B5DEB}"/>
              </a:ext>
            </a:extLst>
          </p:cNvPr>
          <p:cNvCxnSpPr>
            <a:endCxn id="9" idx="1"/>
          </p:cNvCxnSpPr>
          <p:nvPr/>
        </p:nvCxnSpPr>
        <p:spPr>
          <a:xfrm>
            <a:off x="4064427" y="4937760"/>
            <a:ext cx="2143333" cy="9855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73AFD2-5E1F-57EC-E0B5-9FBD5E6AD0A2}"/>
              </a:ext>
            </a:extLst>
          </p:cNvPr>
          <p:cNvSpPr txBox="1"/>
          <p:nvPr/>
        </p:nvSpPr>
        <p:spPr>
          <a:xfrm>
            <a:off x="3380418" y="5456535"/>
            <a:ext cx="1884894" cy="92333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Not found then go to LLM as fallback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B0FDB8-E449-7F97-81F0-446DF53DC61C}"/>
              </a:ext>
            </a:extLst>
          </p:cNvPr>
          <p:cNvSpPr txBox="1"/>
          <p:nvPr/>
        </p:nvSpPr>
        <p:spPr>
          <a:xfrm>
            <a:off x="9621520" y="3657600"/>
            <a:ext cx="20379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Estimation with Framework</a:t>
            </a:r>
          </a:p>
          <a:p>
            <a:endParaRPr lang="en-IN" b="1" dirty="0"/>
          </a:p>
          <a:p>
            <a:r>
              <a:rPr lang="en-IN" b="1" dirty="0"/>
              <a:t>5 working days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1236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371F4-2332-50C9-2607-82403AED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79A4B77-CD73-48BC-D713-2323F60DA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CFC8B7-74D1-1346-8345-F269120CF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ABCC1D-9E42-9147-F7CA-4A69A980A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AE7A0B6-0413-180A-7D52-AEAB30614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7AC1C0-9D7F-7216-6C74-23FC6ADB0C67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Approach 2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110DF8-C9C3-93BB-94FB-43E39C185757}"/>
              </a:ext>
            </a:extLst>
          </p:cNvPr>
          <p:cNvSpPr txBox="1"/>
          <p:nvPr/>
        </p:nvSpPr>
        <p:spPr>
          <a:xfrm>
            <a:off x="91440" y="1645787"/>
            <a:ext cx="10871200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User provides KPI Name using Conversational UI interface.</a:t>
            </a:r>
          </a:p>
          <a:p>
            <a:pPr marL="342900" indent="-342900">
              <a:buAutoNum type="arabicPeriod"/>
            </a:pPr>
            <a:r>
              <a:rPr lang="en-IN" dirty="0"/>
              <a:t>KPI Builder System will use that KPI Name with LLM along with predefined dataset.</a:t>
            </a:r>
          </a:p>
          <a:p>
            <a:pPr marL="342900" indent="-342900">
              <a:buAutoNum type="arabicPeriod"/>
            </a:pPr>
            <a:r>
              <a:rPr lang="en-IN" dirty="0"/>
              <a:t>KPI Builder system will ask more questions from user.</a:t>
            </a:r>
          </a:p>
          <a:p>
            <a:pPr marL="342900" indent="-342900">
              <a:buAutoNum type="arabicPeriod"/>
            </a:pPr>
            <a:r>
              <a:rPr lang="en-IN" dirty="0"/>
              <a:t>Provide response as Review card Interface.</a:t>
            </a:r>
          </a:p>
          <a:p>
            <a:pPr marL="342900" indent="-342900">
              <a:buAutoNum type="arabicPeriod"/>
            </a:pPr>
            <a:r>
              <a:rPr lang="en-IN" dirty="0"/>
              <a:t>In case, not found the in datasets, </a:t>
            </a:r>
            <a:r>
              <a:rPr lang="en-IN" dirty="0" err="1"/>
              <a:t>goto</a:t>
            </a:r>
            <a:r>
              <a:rPr lang="en-IN" dirty="0"/>
              <a:t> Agentic Flow – tool calling method to retrieve the information from LLM and provide response as Review card interface.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56CDE3-0A56-84E1-8B0C-070FFB328058}"/>
              </a:ext>
            </a:extLst>
          </p:cNvPr>
          <p:cNvSpPr/>
          <p:nvPr/>
        </p:nvSpPr>
        <p:spPr>
          <a:xfrm>
            <a:off x="386081" y="3657600"/>
            <a:ext cx="1635760" cy="12801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 interface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63DA9E-DFFC-C9F9-8A27-57BDD3541546}"/>
              </a:ext>
            </a:extLst>
          </p:cNvPr>
          <p:cNvSpPr/>
          <p:nvPr/>
        </p:nvSpPr>
        <p:spPr>
          <a:xfrm>
            <a:off x="2611120" y="3784600"/>
            <a:ext cx="1971040" cy="11531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KPI Builder system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7D95B1-6041-40C9-7C7D-8ADD1F631B3F}"/>
              </a:ext>
            </a:extLst>
          </p:cNvPr>
          <p:cNvSpPr/>
          <p:nvPr/>
        </p:nvSpPr>
        <p:spPr>
          <a:xfrm>
            <a:off x="6207760" y="3429000"/>
            <a:ext cx="2042160" cy="128016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LLM with </a:t>
            </a:r>
            <a:r>
              <a:rPr lang="en-IN" dirty="0" err="1"/>
              <a:t>KPIName</a:t>
            </a:r>
            <a:r>
              <a:rPr lang="en-IN" dirty="0"/>
              <a:t> and  datasets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51AB23-3841-C5B4-791D-AF543D47F79F}"/>
              </a:ext>
            </a:extLst>
          </p:cNvPr>
          <p:cNvSpPr/>
          <p:nvPr/>
        </p:nvSpPr>
        <p:spPr>
          <a:xfrm>
            <a:off x="6207760" y="5283200"/>
            <a:ext cx="2661920" cy="12801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LLM Agentic Flow to get data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EF15A5-8395-F100-702E-3D4DEF7697CD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4582160" y="4069080"/>
            <a:ext cx="1625600" cy="292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458294-204C-C050-1606-A7AE4A434CCB}"/>
              </a:ext>
            </a:extLst>
          </p:cNvPr>
          <p:cNvCxnSpPr/>
          <p:nvPr/>
        </p:nvCxnSpPr>
        <p:spPr>
          <a:xfrm flipH="1">
            <a:off x="4582160" y="4480560"/>
            <a:ext cx="1625600" cy="284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D3969F4-B1BA-2034-BA2C-17943F185CCD}"/>
              </a:ext>
            </a:extLst>
          </p:cNvPr>
          <p:cNvSpPr txBox="1"/>
          <p:nvPr/>
        </p:nvSpPr>
        <p:spPr>
          <a:xfrm>
            <a:off x="4866640" y="3870960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check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0B711-2824-A04B-F07B-3EF70F94D486}"/>
              </a:ext>
            </a:extLst>
          </p:cNvPr>
          <p:cNvSpPr txBox="1"/>
          <p:nvPr/>
        </p:nvSpPr>
        <p:spPr>
          <a:xfrm>
            <a:off x="5080000" y="466852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response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30907E-105B-4467-67E1-CD36F661200C}"/>
              </a:ext>
            </a:extLst>
          </p:cNvPr>
          <p:cNvCxnSpPr>
            <a:stCxn id="5" idx="1"/>
          </p:cNvCxnSpPr>
          <p:nvPr/>
        </p:nvCxnSpPr>
        <p:spPr>
          <a:xfrm flipH="1">
            <a:off x="2021840" y="4361180"/>
            <a:ext cx="5892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DDD6CB9-2AE1-8275-7CAD-4B84C451C61F}"/>
              </a:ext>
            </a:extLst>
          </p:cNvPr>
          <p:cNvSpPr txBox="1"/>
          <p:nvPr/>
        </p:nvSpPr>
        <p:spPr>
          <a:xfrm>
            <a:off x="1894840" y="4638040"/>
            <a:ext cx="86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found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D201CE-ADFF-723D-22F6-68B998E4BE83}"/>
              </a:ext>
            </a:extLst>
          </p:cNvPr>
          <p:cNvCxnSpPr>
            <a:endCxn id="9" idx="1"/>
          </p:cNvCxnSpPr>
          <p:nvPr/>
        </p:nvCxnSpPr>
        <p:spPr>
          <a:xfrm>
            <a:off x="4064427" y="4937760"/>
            <a:ext cx="2143333" cy="9855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058AFC4-5130-8A9A-56B5-6BD5ED6A2E52}"/>
              </a:ext>
            </a:extLst>
          </p:cNvPr>
          <p:cNvSpPr txBox="1"/>
          <p:nvPr/>
        </p:nvSpPr>
        <p:spPr>
          <a:xfrm>
            <a:off x="3380418" y="5456535"/>
            <a:ext cx="1884894" cy="92333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Accept all information from users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D62EAD-F8E8-AB91-E8E9-4A055BB34CAC}"/>
              </a:ext>
            </a:extLst>
          </p:cNvPr>
          <p:cNvSpPr txBox="1"/>
          <p:nvPr/>
        </p:nvSpPr>
        <p:spPr>
          <a:xfrm>
            <a:off x="9621520" y="3657600"/>
            <a:ext cx="20379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Estimation with Framework</a:t>
            </a:r>
          </a:p>
          <a:p>
            <a:endParaRPr lang="en-IN" b="1" dirty="0"/>
          </a:p>
          <a:p>
            <a:r>
              <a:rPr lang="en-IN" b="1" dirty="0"/>
              <a:t>10 working days</a:t>
            </a:r>
            <a:r>
              <a:rPr lang="en-IN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7B8410-720E-43E5-D24A-811BA032CAC1}"/>
              </a:ext>
            </a:extLst>
          </p:cNvPr>
          <p:cNvSpPr txBox="1"/>
          <p:nvPr/>
        </p:nvSpPr>
        <p:spPr>
          <a:xfrm>
            <a:off x="6746240" y="4853186"/>
            <a:ext cx="310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Agentic Tool calling function</a:t>
            </a:r>
          </a:p>
        </p:txBody>
      </p:sp>
    </p:spTree>
    <p:extLst>
      <p:ext uri="{BB962C8B-B14F-4D97-AF65-F5344CB8AC3E}">
        <p14:creationId xmlns:p14="http://schemas.microsoft.com/office/powerpoint/2010/main" val="968536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A4BF0F-CDBA-E27B-C31E-70D069863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F2BCC77-32F5-5001-54CB-38FF2C9D0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42DFDA-6B0B-3558-212E-BE9736AB1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92AF0D-155D-1F80-A8FA-5E5EA3759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45D395A-926B-72B5-BECA-26E2CF7F6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C099AE-A541-E94E-8816-03616720473C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Approach 3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MCP and A2A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EC35F6-F260-21CD-FAC0-D4CA5738958B}"/>
              </a:ext>
            </a:extLst>
          </p:cNvPr>
          <p:cNvSpPr txBox="1"/>
          <p:nvPr/>
        </p:nvSpPr>
        <p:spPr>
          <a:xfrm>
            <a:off x="91440" y="1645787"/>
            <a:ext cx="10871200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User provides KPI Name using Conversational UI interface.</a:t>
            </a:r>
          </a:p>
          <a:p>
            <a:pPr marL="342900" indent="-342900">
              <a:buAutoNum type="arabicPeriod"/>
            </a:pPr>
            <a:r>
              <a:rPr lang="en-IN" dirty="0"/>
              <a:t>KPI Builder System will use that KPI Name with LLM along with predefined dataset.</a:t>
            </a:r>
          </a:p>
          <a:p>
            <a:pPr marL="342900" indent="-342900">
              <a:buAutoNum type="arabicPeriod"/>
            </a:pPr>
            <a:r>
              <a:rPr lang="en-IN" dirty="0"/>
              <a:t>KPI Builder system will ask more questions from user.</a:t>
            </a:r>
          </a:p>
          <a:p>
            <a:pPr marL="342900" indent="-342900">
              <a:buAutoNum type="arabicPeriod"/>
            </a:pPr>
            <a:r>
              <a:rPr lang="en-IN" dirty="0"/>
              <a:t>Provide response as Review card Interface.</a:t>
            </a:r>
          </a:p>
          <a:p>
            <a:pPr marL="342900" indent="-342900">
              <a:buAutoNum type="arabicPeriod"/>
            </a:pPr>
            <a:r>
              <a:rPr lang="en-IN" dirty="0"/>
              <a:t>In case, not found the in datasets, </a:t>
            </a:r>
            <a:r>
              <a:rPr lang="en-IN" dirty="0" err="1"/>
              <a:t>goto</a:t>
            </a:r>
            <a:r>
              <a:rPr lang="en-IN" dirty="0"/>
              <a:t> Agentic Flow – tool calling method to retrieve the information from LLM and provide response as Review card interface.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9F28B60-0FB2-B30C-C012-233FC8D1127C}"/>
              </a:ext>
            </a:extLst>
          </p:cNvPr>
          <p:cNvSpPr/>
          <p:nvPr/>
        </p:nvSpPr>
        <p:spPr>
          <a:xfrm>
            <a:off x="386081" y="3657600"/>
            <a:ext cx="1635760" cy="12801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 interface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A4E01D-7673-9463-856D-D75CDDE0F199}"/>
              </a:ext>
            </a:extLst>
          </p:cNvPr>
          <p:cNvSpPr/>
          <p:nvPr/>
        </p:nvSpPr>
        <p:spPr>
          <a:xfrm>
            <a:off x="2611120" y="3784600"/>
            <a:ext cx="1971040" cy="11531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KPI Builder system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FD8CB5-F64B-7515-7C4B-50E194D97660}"/>
              </a:ext>
            </a:extLst>
          </p:cNvPr>
          <p:cNvSpPr/>
          <p:nvPr/>
        </p:nvSpPr>
        <p:spPr>
          <a:xfrm>
            <a:off x="6207760" y="3429000"/>
            <a:ext cx="2042160" cy="128016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Agent 1:</a:t>
            </a:r>
          </a:p>
          <a:p>
            <a:pPr algn="ctr"/>
            <a:r>
              <a:rPr lang="en-IN" dirty="0"/>
              <a:t>Accept all required information from user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E7A41F-9732-A1A4-1E6D-B03F67A4DD75}"/>
              </a:ext>
            </a:extLst>
          </p:cNvPr>
          <p:cNvSpPr/>
          <p:nvPr/>
        </p:nvSpPr>
        <p:spPr>
          <a:xfrm>
            <a:off x="6207760" y="5283200"/>
            <a:ext cx="2661920" cy="12801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Agent 2:</a:t>
            </a:r>
          </a:p>
          <a:p>
            <a:pPr algn="ctr"/>
            <a:r>
              <a:rPr lang="en-IN" dirty="0"/>
              <a:t>Agent 1 data and return all information as Review card.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960674-DBC3-8CE9-3B5A-4EA615680325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4582160" y="4069080"/>
            <a:ext cx="1625600" cy="292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F814A9-9C3A-E8C3-60E0-BC092E3EEE81}"/>
              </a:ext>
            </a:extLst>
          </p:cNvPr>
          <p:cNvCxnSpPr/>
          <p:nvPr/>
        </p:nvCxnSpPr>
        <p:spPr>
          <a:xfrm flipH="1">
            <a:off x="4582160" y="4480560"/>
            <a:ext cx="1625600" cy="284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74AE24C-F5FD-F1B4-7417-550397DED8F3}"/>
              </a:ext>
            </a:extLst>
          </p:cNvPr>
          <p:cNvSpPr txBox="1"/>
          <p:nvPr/>
        </p:nvSpPr>
        <p:spPr>
          <a:xfrm>
            <a:off x="4866640" y="3870960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check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4470FD-5DF9-CC82-9F91-65275E7E945C}"/>
              </a:ext>
            </a:extLst>
          </p:cNvPr>
          <p:cNvSpPr txBox="1"/>
          <p:nvPr/>
        </p:nvSpPr>
        <p:spPr>
          <a:xfrm>
            <a:off x="5080000" y="466852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response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C2981D-23FC-A78E-D7F1-7D252811D08D}"/>
              </a:ext>
            </a:extLst>
          </p:cNvPr>
          <p:cNvCxnSpPr>
            <a:stCxn id="5" idx="1"/>
          </p:cNvCxnSpPr>
          <p:nvPr/>
        </p:nvCxnSpPr>
        <p:spPr>
          <a:xfrm flipH="1">
            <a:off x="2021840" y="4361180"/>
            <a:ext cx="5892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5B2CB76-7BBD-D038-C6A2-23ADAAA7B6DB}"/>
              </a:ext>
            </a:extLst>
          </p:cNvPr>
          <p:cNvSpPr txBox="1"/>
          <p:nvPr/>
        </p:nvSpPr>
        <p:spPr>
          <a:xfrm>
            <a:off x="1894840" y="4638040"/>
            <a:ext cx="86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found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2FB935-1922-D291-2F36-E7B4E0DA3BB8}"/>
              </a:ext>
            </a:extLst>
          </p:cNvPr>
          <p:cNvCxnSpPr>
            <a:endCxn id="9" idx="1"/>
          </p:cNvCxnSpPr>
          <p:nvPr/>
        </p:nvCxnSpPr>
        <p:spPr>
          <a:xfrm>
            <a:off x="4064427" y="4937760"/>
            <a:ext cx="2143333" cy="9855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FC75C65-BE93-D73F-304C-5B05BF009376}"/>
              </a:ext>
            </a:extLst>
          </p:cNvPr>
          <p:cNvSpPr txBox="1"/>
          <p:nvPr/>
        </p:nvSpPr>
        <p:spPr>
          <a:xfrm>
            <a:off x="3380418" y="5456535"/>
            <a:ext cx="1884894" cy="92333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Accept all information from users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E41367-6B75-E0F8-53D8-7AFC4A5DAF06}"/>
              </a:ext>
            </a:extLst>
          </p:cNvPr>
          <p:cNvSpPr txBox="1"/>
          <p:nvPr/>
        </p:nvSpPr>
        <p:spPr>
          <a:xfrm>
            <a:off x="9621520" y="3657600"/>
            <a:ext cx="20379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Estimation with Framework</a:t>
            </a:r>
          </a:p>
          <a:p>
            <a:endParaRPr lang="en-IN" b="1" dirty="0"/>
          </a:p>
          <a:p>
            <a:r>
              <a:rPr lang="en-IN" b="1" dirty="0"/>
              <a:t> 6-8 weeks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836BF4-B916-610A-0790-19E10424FED7}"/>
              </a:ext>
            </a:extLst>
          </p:cNvPr>
          <p:cNvSpPr txBox="1"/>
          <p:nvPr/>
        </p:nvSpPr>
        <p:spPr>
          <a:xfrm>
            <a:off x="6080759" y="4853186"/>
            <a:ext cx="5725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00FF00"/>
                </a:highlight>
              </a:rPr>
              <a:t>MCP and A2A (agent 1 and agent2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734085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F8C67-970E-6C4E-2138-E295C645B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A44923-E9A0-2D5F-382A-EF8263422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370" y="577662"/>
            <a:ext cx="6337910" cy="570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928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A539C-8BBA-7F9A-E4A1-C49B0C053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CEB12E9-87D7-D143-B14B-62743999D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D9B8D3-E700-655A-176F-7FFE458D9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534C3F-0C98-210C-1291-D8F740804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DE11BB-523D-D2B7-5D63-328AD3CB7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C83D12-CF5E-41B6-48E7-58300222768C}"/>
              </a:ext>
            </a:extLst>
          </p:cNvPr>
          <p:cNvSpPr txBox="1"/>
          <p:nvPr/>
        </p:nvSpPr>
        <p:spPr>
          <a:xfrm>
            <a:off x="532566" y="658299"/>
            <a:ext cx="8723193" cy="1200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Technologies stack: Agentic KPI Builder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Cylinder 1">
            <a:extLst>
              <a:ext uri="{FF2B5EF4-FFF2-40B4-BE49-F238E27FC236}">
                <a16:creationId xmlns:a16="http://schemas.microsoft.com/office/drawing/2014/main" id="{30D76698-59A7-B1FC-DEBD-B455F1B118A7}"/>
              </a:ext>
            </a:extLst>
          </p:cNvPr>
          <p:cNvSpPr/>
          <p:nvPr/>
        </p:nvSpPr>
        <p:spPr>
          <a:xfrm>
            <a:off x="9834880" y="2631440"/>
            <a:ext cx="1452880" cy="2570480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Operation</a:t>
            </a:r>
          </a:p>
          <a:p>
            <a:pPr algn="ctr"/>
            <a:r>
              <a:rPr lang="en-IN" dirty="0"/>
              <a:t>Events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C1CB1-9E89-3A88-745B-5FE11784FFF2}"/>
              </a:ext>
            </a:extLst>
          </p:cNvPr>
          <p:cNvSpPr txBox="1"/>
          <p:nvPr/>
        </p:nvSpPr>
        <p:spPr>
          <a:xfrm>
            <a:off x="-4" y="927979"/>
            <a:ext cx="12192004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The dataset is provided separately as operations_events.csv. 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r>
              <a:rPr lang="en-US" dirty="0">
                <a:highlight>
                  <a:srgbClr val="C0C0C0"/>
                </a:highlight>
              </a:rPr>
              <a:t>You may use any language, framework, or LLM integration approach</a:t>
            </a:r>
            <a:r>
              <a:rPr lang="en-US" dirty="0"/>
              <a:t>. </a:t>
            </a:r>
            <a:r>
              <a:rPr lang="en-US" dirty="0">
                <a:sym typeface="Wingdings" panose="05000000000000000000" pitchFamily="2" charset="2"/>
              </a:rPr>
              <a:t> Using Python as language</a:t>
            </a:r>
          </a:p>
          <a:p>
            <a:r>
              <a:rPr lang="en-US" dirty="0">
                <a:sym typeface="Wingdings" panose="05000000000000000000" pitchFamily="2" charset="2"/>
              </a:rPr>
              <a:t>                                                                                                                                                 </a:t>
            </a:r>
            <a:r>
              <a:rPr lang="en-US" dirty="0" err="1">
                <a:sym typeface="Wingdings" panose="05000000000000000000" pitchFamily="2" charset="2"/>
              </a:rPr>
              <a:t>Langchain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Langgraph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dirty="0" err="1">
                <a:sym typeface="Wingdings" panose="05000000000000000000" pitchFamily="2" charset="2"/>
              </a:rPr>
              <a:t>LangSmith</a:t>
            </a:r>
            <a:r>
              <a:rPr lang="en-US" dirty="0">
                <a:sym typeface="Wingdings" panose="05000000000000000000" pitchFamily="2" charset="2"/>
              </a:rPr>
              <a:t> as framework</a:t>
            </a:r>
          </a:p>
          <a:p>
            <a:r>
              <a:rPr lang="en-US" dirty="0">
                <a:sym typeface="Wingdings" panose="05000000000000000000" pitchFamily="2" charset="2"/>
              </a:rPr>
              <a:t>							      </a:t>
            </a:r>
            <a:r>
              <a:rPr lang="en-US" dirty="0" err="1">
                <a:sym typeface="Wingdings" panose="05000000000000000000" pitchFamily="2" charset="2"/>
              </a:rPr>
              <a:t>Groq</a:t>
            </a:r>
            <a:r>
              <a:rPr lang="en-US" dirty="0">
                <a:sym typeface="Wingdings" panose="05000000000000000000" pitchFamily="2" charset="2"/>
              </a:rPr>
              <a:t> as LLM Models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7C861-05EF-CE8A-1B8B-38191F9733FF}"/>
              </a:ext>
            </a:extLst>
          </p:cNvPr>
          <p:cNvSpPr txBox="1"/>
          <p:nvPr/>
        </p:nvSpPr>
        <p:spPr>
          <a:xfrm>
            <a:off x="9555478" y="5299079"/>
            <a:ext cx="2463802" cy="63094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IN" sz="1000" b="1" dirty="0">
                <a:solidFill>
                  <a:srgbClr val="1E3A8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Dataset Reference</a:t>
            </a:r>
            <a:endParaRPr lang="en-IN" sz="1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lang="en-IN" sz="1000" i="1" dirty="0">
                <a:solidFill>
                  <a:srgbClr val="6B728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Synthetic Business Operations Dataset - 500 rows, 13 columns</a:t>
            </a:r>
            <a:endParaRPr lang="en-IN" sz="1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594C0F-E2CB-AABC-1807-0D6C91ABDF72}"/>
              </a:ext>
            </a:extLst>
          </p:cNvPr>
          <p:cNvSpPr/>
          <p:nvPr/>
        </p:nvSpPr>
        <p:spPr>
          <a:xfrm>
            <a:off x="284480" y="3068255"/>
            <a:ext cx="2346960" cy="218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Conversational Interface</a:t>
            </a:r>
          </a:p>
          <a:p>
            <a:pPr algn="ctr"/>
            <a:r>
              <a:rPr lang="en-IN" dirty="0"/>
              <a:t>UI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FEF4DC-ABE2-36C3-7A81-A8DF5FB72454}"/>
              </a:ext>
            </a:extLst>
          </p:cNvPr>
          <p:cNvSpPr/>
          <p:nvPr/>
        </p:nvSpPr>
        <p:spPr>
          <a:xfrm>
            <a:off x="3952240" y="2981991"/>
            <a:ext cx="1930400" cy="227066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0F3C9D75-2703-9986-1C93-71036D637C63}"/>
              </a:ext>
            </a:extLst>
          </p:cNvPr>
          <p:cNvSpPr/>
          <p:nvPr/>
        </p:nvSpPr>
        <p:spPr>
          <a:xfrm>
            <a:off x="2631440" y="3942080"/>
            <a:ext cx="1320800" cy="233616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016F57-3745-A692-27D4-1C506DF0F0D4}"/>
              </a:ext>
            </a:extLst>
          </p:cNvPr>
          <p:cNvSpPr txBox="1"/>
          <p:nvPr/>
        </p:nvSpPr>
        <p:spPr>
          <a:xfrm>
            <a:off x="4074160" y="3302000"/>
            <a:ext cx="16560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Agentic AI KPI</a:t>
            </a:r>
          </a:p>
          <a:p>
            <a:r>
              <a:rPr lang="en-IN" dirty="0"/>
              <a:t>Builder</a:t>
            </a:r>
          </a:p>
          <a:p>
            <a:endParaRPr lang="en-IN" dirty="0"/>
          </a:p>
          <a:p>
            <a:r>
              <a:rPr lang="en-IN" dirty="0"/>
              <a:t>Business logics</a:t>
            </a:r>
          </a:p>
          <a:p>
            <a:r>
              <a:rPr lang="en-IN" dirty="0"/>
              <a:t>python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AA622D-2422-90D5-D43F-4CE2DE862630}"/>
              </a:ext>
            </a:extLst>
          </p:cNvPr>
          <p:cNvSpPr/>
          <p:nvPr/>
        </p:nvSpPr>
        <p:spPr>
          <a:xfrm>
            <a:off x="6615016" y="3068255"/>
            <a:ext cx="2315624" cy="19262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Agentic Implementation</a:t>
            </a:r>
          </a:p>
          <a:p>
            <a:pPr algn="ctr"/>
            <a:r>
              <a:rPr lang="en-IN" dirty="0" err="1"/>
              <a:t>LangGraph</a:t>
            </a:r>
            <a:endParaRPr lang="en-IN" dirty="0"/>
          </a:p>
          <a:p>
            <a:pPr algn="ctr"/>
            <a:r>
              <a:rPr lang="en-IN" dirty="0" err="1"/>
              <a:t>Langchain</a:t>
            </a:r>
            <a:endParaRPr lang="en-IN" dirty="0"/>
          </a:p>
          <a:p>
            <a:pPr algn="ctr"/>
            <a:r>
              <a:rPr lang="en-IN" dirty="0" err="1"/>
              <a:t>LangSmith</a:t>
            </a:r>
            <a:r>
              <a:rPr lang="en-IN" dirty="0"/>
              <a:t> with LLM</a:t>
            </a: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73B8D6BB-9627-6A98-137F-2BCADD017110}"/>
              </a:ext>
            </a:extLst>
          </p:cNvPr>
          <p:cNvSpPr/>
          <p:nvPr/>
        </p:nvSpPr>
        <p:spPr>
          <a:xfrm>
            <a:off x="5882640" y="3942080"/>
            <a:ext cx="751840" cy="335280"/>
          </a:xfrm>
          <a:prstGeom prst="left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FC5DB414-DB91-AE99-2BBD-8DD9CA001914}"/>
              </a:ext>
            </a:extLst>
          </p:cNvPr>
          <p:cNvSpPr/>
          <p:nvPr/>
        </p:nvSpPr>
        <p:spPr>
          <a:xfrm>
            <a:off x="8879838" y="3891248"/>
            <a:ext cx="1026161" cy="335280"/>
          </a:xfrm>
          <a:prstGeom prst="left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907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743F1-7986-8EC8-A3E6-7824083F2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3E606D8-0C3F-CF28-E35C-582A3C731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63D425-3545-4E29-6B4C-414BCEAE9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8AECEA-3159-379D-3CC8-BE279E628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307065-ACF9-BF8F-EE8E-C600EBFC3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C7D518-B86C-459D-580C-9762F87D21B9}"/>
              </a:ext>
            </a:extLst>
          </p:cNvPr>
          <p:cNvSpPr txBox="1"/>
          <p:nvPr/>
        </p:nvSpPr>
        <p:spPr>
          <a:xfrm>
            <a:off x="532567" y="894079"/>
            <a:ext cx="7063721" cy="964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dirty="0">
                <a:highlight>
                  <a:srgbClr val="C0C0C0"/>
                </a:highlight>
              </a:rPr>
              <a:t>Review Card UI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B49E88-5D40-55D3-85BC-345361444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3565" y="113502"/>
            <a:ext cx="2457793" cy="12003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31E8A4-CB76-87FF-0084-13C88A270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" y="1538514"/>
            <a:ext cx="7773485" cy="28197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DD5840-E121-9729-0161-F0FD9701A8F1}"/>
              </a:ext>
            </a:extLst>
          </p:cNvPr>
          <p:cNvSpPr txBox="1"/>
          <p:nvPr/>
        </p:nvSpPr>
        <p:spPr>
          <a:xfrm>
            <a:off x="7680960" y="1991360"/>
            <a:ext cx="4074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KPI Review Card</a:t>
            </a:r>
          </a:p>
          <a:p>
            <a:endParaRPr lang="en-IN" dirty="0"/>
          </a:p>
          <a:p>
            <a:r>
              <a:rPr lang="en-IN" dirty="0"/>
              <a:t> </a:t>
            </a:r>
            <a:r>
              <a:rPr lang="en-IN" dirty="0">
                <a:sym typeface="Wingdings" panose="05000000000000000000" pitchFamily="2" charset="2"/>
              </a:rPr>
              <a:t> The Approve button must be disabled if the KPI failed validation.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6367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84DF7-11DF-1E46-6399-8105DFC8F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FFA6BA-9953-72BF-A52B-A62934D08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999" y="997684"/>
            <a:ext cx="4833772" cy="36759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808F5D-F71B-1385-6AC5-05C7C29742C9}"/>
              </a:ext>
            </a:extLst>
          </p:cNvPr>
          <p:cNvSpPr txBox="1"/>
          <p:nvPr/>
        </p:nvSpPr>
        <p:spPr>
          <a:xfrm>
            <a:off x="5120640" y="4350433"/>
            <a:ext cx="318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299536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B49F4-5690-D56B-7523-B8AEB9A16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A13ABDD-D813-BEF0-60B0-E7A532496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EBA118-8AC7-56B4-A853-4A1AC42DB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6BA210C-0448-31AD-E095-C9B76026E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2519E7-84F7-A517-35D8-F4D87CA7E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24080B-4520-975B-8191-FB6BCD06D706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Sequence diagram: (high level)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05B265-2A1E-CFAC-F299-6B906A6FC2CF}"/>
              </a:ext>
            </a:extLst>
          </p:cNvPr>
          <p:cNvSpPr/>
          <p:nvPr/>
        </p:nvSpPr>
        <p:spPr>
          <a:xfrm>
            <a:off x="182880" y="1785011"/>
            <a:ext cx="1818640" cy="5994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9453EC-D461-137E-5E36-67AE38C5932E}"/>
              </a:ext>
            </a:extLst>
          </p:cNvPr>
          <p:cNvSpPr/>
          <p:nvPr/>
        </p:nvSpPr>
        <p:spPr>
          <a:xfrm>
            <a:off x="2160261" y="1808505"/>
            <a:ext cx="2033695" cy="5994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Conversational UI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823493-4789-61F7-C471-4C7076B53846}"/>
              </a:ext>
            </a:extLst>
          </p:cNvPr>
          <p:cNvSpPr/>
          <p:nvPr/>
        </p:nvSpPr>
        <p:spPr>
          <a:xfrm>
            <a:off x="4352697" y="1785011"/>
            <a:ext cx="2033695" cy="5994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KPIInputHandler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BDA46B-A3A1-38ED-6F5D-272B6AE6C648}"/>
              </a:ext>
            </a:extLst>
          </p:cNvPr>
          <p:cNvSpPr/>
          <p:nvPr/>
        </p:nvSpPr>
        <p:spPr>
          <a:xfrm>
            <a:off x="6703874" y="1792258"/>
            <a:ext cx="2033695" cy="5994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KPIAgentHandler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B0C6A1-7A34-5713-A6B6-E3AAA39A112D}"/>
              </a:ext>
            </a:extLst>
          </p:cNvPr>
          <p:cNvSpPr/>
          <p:nvPr/>
        </p:nvSpPr>
        <p:spPr>
          <a:xfrm>
            <a:off x="8877296" y="1808505"/>
            <a:ext cx="3030224" cy="5994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KPIOperationalEventLoader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3F023B-0F89-2D9E-D177-123FE76B495D}"/>
              </a:ext>
            </a:extLst>
          </p:cNvPr>
          <p:cNvCxnSpPr>
            <a:stCxn id="2" idx="2"/>
          </p:cNvCxnSpPr>
          <p:nvPr/>
        </p:nvCxnSpPr>
        <p:spPr>
          <a:xfrm flipH="1">
            <a:off x="1076960" y="2384451"/>
            <a:ext cx="15240" cy="4473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81FAAA-55B9-E424-420C-913C445BC41F}"/>
              </a:ext>
            </a:extLst>
          </p:cNvPr>
          <p:cNvCxnSpPr/>
          <p:nvPr/>
        </p:nvCxnSpPr>
        <p:spPr>
          <a:xfrm flipH="1">
            <a:off x="3158041" y="2365729"/>
            <a:ext cx="15240" cy="4473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32EB52-B330-5BD3-C420-1BB989296E85}"/>
              </a:ext>
            </a:extLst>
          </p:cNvPr>
          <p:cNvCxnSpPr/>
          <p:nvPr/>
        </p:nvCxnSpPr>
        <p:spPr>
          <a:xfrm flipH="1">
            <a:off x="5320051" y="2407945"/>
            <a:ext cx="15240" cy="4473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CAA179-0F20-F037-B59D-525AE1C795F9}"/>
              </a:ext>
            </a:extLst>
          </p:cNvPr>
          <p:cNvCxnSpPr/>
          <p:nvPr/>
        </p:nvCxnSpPr>
        <p:spPr>
          <a:xfrm flipH="1">
            <a:off x="7720721" y="2365730"/>
            <a:ext cx="15240" cy="4473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5003B2-5401-81CD-FAA0-9AF2661D7B48}"/>
              </a:ext>
            </a:extLst>
          </p:cNvPr>
          <p:cNvCxnSpPr/>
          <p:nvPr/>
        </p:nvCxnSpPr>
        <p:spPr>
          <a:xfrm flipH="1">
            <a:off x="10062391" y="2407945"/>
            <a:ext cx="15240" cy="4473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55F971D-2BA5-C8DF-AFAB-8843652A09BE}"/>
              </a:ext>
            </a:extLst>
          </p:cNvPr>
          <p:cNvSpPr txBox="1"/>
          <p:nvPr/>
        </p:nvSpPr>
        <p:spPr>
          <a:xfrm>
            <a:off x="1128300" y="2556748"/>
            <a:ext cx="1828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KPI   Name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9DF9598-D319-F920-37AD-463979290E0B}"/>
              </a:ext>
            </a:extLst>
          </p:cNvPr>
          <p:cNvCxnSpPr/>
          <p:nvPr/>
        </p:nvCxnSpPr>
        <p:spPr>
          <a:xfrm>
            <a:off x="1076960" y="2926080"/>
            <a:ext cx="20810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D63B4A5-B6CE-5CBA-BB36-56A830813097}"/>
              </a:ext>
            </a:extLst>
          </p:cNvPr>
          <p:cNvSpPr txBox="1"/>
          <p:nvPr/>
        </p:nvSpPr>
        <p:spPr>
          <a:xfrm>
            <a:off x="3109500" y="2841228"/>
            <a:ext cx="1828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2. KPI   Name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559DE38-477D-2BE1-05EB-94986C282AA8}"/>
              </a:ext>
            </a:extLst>
          </p:cNvPr>
          <p:cNvCxnSpPr>
            <a:cxnSpLocks/>
          </p:cNvCxnSpPr>
          <p:nvPr/>
        </p:nvCxnSpPr>
        <p:spPr>
          <a:xfrm>
            <a:off x="3180080" y="3210560"/>
            <a:ext cx="21894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0D05307-FB73-8938-E7C0-D0A127B42E9E}"/>
              </a:ext>
            </a:extLst>
          </p:cNvPr>
          <p:cNvSpPr txBox="1"/>
          <p:nvPr/>
        </p:nvSpPr>
        <p:spPr>
          <a:xfrm>
            <a:off x="5365020" y="3227308"/>
            <a:ext cx="1828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3. KPI   Name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270398-A0BE-3A98-2707-F2D047E46A42}"/>
              </a:ext>
            </a:extLst>
          </p:cNvPr>
          <p:cNvCxnSpPr>
            <a:cxnSpLocks/>
          </p:cNvCxnSpPr>
          <p:nvPr/>
        </p:nvCxnSpPr>
        <p:spPr>
          <a:xfrm>
            <a:off x="5320051" y="3596640"/>
            <a:ext cx="24006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E6C9C5E-6054-585A-791C-D6DB96ED8C84}"/>
              </a:ext>
            </a:extLst>
          </p:cNvPr>
          <p:cNvCxnSpPr/>
          <p:nvPr/>
        </p:nvCxnSpPr>
        <p:spPr>
          <a:xfrm flipH="1">
            <a:off x="1092200" y="6522720"/>
            <a:ext cx="66285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578AFB7-9FA2-4B62-F4A3-FBA13E0CF660}"/>
              </a:ext>
            </a:extLst>
          </p:cNvPr>
          <p:cNvSpPr txBox="1"/>
          <p:nvPr/>
        </p:nvSpPr>
        <p:spPr>
          <a:xfrm>
            <a:off x="1740780" y="6045199"/>
            <a:ext cx="5461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5. Step by step to a computed result for KPI Name</a:t>
            </a:r>
          </a:p>
          <a:p>
            <a:r>
              <a:rPr lang="en-IN" sz="800" dirty="0"/>
              <a:t>KPI Review Card displayed after the calculation completes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C41BFE-62AA-7470-47E9-05F25FE82D35}"/>
              </a:ext>
            </a:extLst>
          </p:cNvPr>
          <p:cNvSpPr txBox="1"/>
          <p:nvPr/>
        </p:nvSpPr>
        <p:spPr>
          <a:xfrm>
            <a:off x="6279120" y="4328160"/>
            <a:ext cx="3093480" cy="1200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800" b="1" dirty="0"/>
              <a:t>agent interprets the KPI name, confirms its understanding with the user, and generates 3-4 contextual multiple-choice questions to collect the definition</a:t>
            </a:r>
          </a:p>
          <a:p>
            <a:endParaRPr lang="en-IN" sz="800" b="1" dirty="0"/>
          </a:p>
          <a:p>
            <a:r>
              <a:rPr lang="en-IN" sz="800" b="1" dirty="0"/>
              <a:t>the agent converts the user's answers into a structured KPI Intent (JSON). </a:t>
            </a:r>
          </a:p>
          <a:p>
            <a:endParaRPr lang="en-IN" sz="800" b="1" dirty="0"/>
          </a:p>
          <a:p>
            <a:r>
              <a:rPr lang="en-IN" sz="800" b="1" dirty="0"/>
              <a:t>conversation state is tracked across steps - what data is stored and how the flow progresses from one step to the next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99D799-55A4-3C00-CD84-A7F398321726}"/>
              </a:ext>
            </a:extLst>
          </p:cNvPr>
          <p:cNvSpPr txBox="1"/>
          <p:nvPr/>
        </p:nvSpPr>
        <p:spPr>
          <a:xfrm>
            <a:off x="7640860" y="5613123"/>
            <a:ext cx="205270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4. Intent KPI Name</a:t>
            </a:r>
          </a:p>
          <a:p>
            <a:endParaRPr lang="en-IN" sz="800" b="1" dirty="0"/>
          </a:p>
          <a:p>
            <a:r>
              <a:rPr lang="en-IN" sz="800" b="1" dirty="0"/>
              <a:t>the backend layer that validates a KPI Intent and executes it against the dataset.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29BF563-CE72-8448-249D-C3B29BF71054}"/>
              </a:ext>
            </a:extLst>
          </p:cNvPr>
          <p:cNvCxnSpPr>
            <a:cxnSpLocks/>
          </p:cNvCxnSpPr>
          <p:nvPr/>
        </p:nvCxnSpPr>
        <p:spPr>
          <a:xfrm>
            <a:off x="7595891" y="6014720"/>
            <a:ext cx="24006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B4BB05B-D5B1-4C13-05E2-88C996117D22}"/>
              </a:ext>
            </a:extLst>
          </p:cNvPr>
          <p:cNvSpPr/>
          <p:nvPr/>
        </p:nvSpPr>
        <p:spPr>
          <a:xfrm>
            <a:off x="10041530" y="5743461"/>
            <a:ext cx="1583185" cy="100103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4.1</a:t>
            </a:r>
          </a:p>
          <a:p>
            <a:pPr algn="ctr"/>
            <a:r>
              <a:rPr lang="en-IN" sz="1200" dirty="0"/>
              <a:t>Load dataset from excel file</a:t>
            </a:r>
          </a:p>
        </p:txBody>
      </p:sp>
    </p:spTree>
    <p:extLst>
      <p:ext uri="{BB962C8B-B14F-4D97-AF65-F5344CB8AC3E}">
        <p14:creationId xmlns:p14="http://schemas.microsoft.com/office/powerpoint/2010/main" val="2194336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C5F90-AB9A-3563-5330-0FBC48A4A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4247F5C-F428-4FDE-B9D9-128B3B7E2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6F53CF8-E3D8-E74B-9EDB-7C38821C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EFE1427-30E5-1A62-5BE7-B48161FD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726BF5-E9CD-0E33-BC45-1B190261C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5665BC-C0EE-0D9B-3E3D-38A837EA4BC5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 Diagram (high level):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127804-006C-BB10-B02A-3B9991DAAEAD}"/>
              </a:ext>
            </a:extLst>
          </p:cNvPr>
          <p:cNvSpPr/>
          <p:nvPr/>
        </p:nvSpPr>
        <p:spPr>
          <a:xfrm>
            <a:off x="7741920" y="1940560"/>
            <a:ext cx="3911600" cy="4084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KPIOperationalEventLoader</a:t>
            </a:r>
            <a:endParaRPr lang="en-IN" b="1" dirty="0"/>
          </a:p>
          <a:p>
            <a:pPr algn="ctr"/>
            <a:r>
              <a:rPr lang="en-IN" dirty="0"/>
              <a:t>Class</a:t>
            </a:r>
          </a:p>
          <a:p>
            <a:r>
              <a:rPr lang="en-IN" dirty="0"/>
              <a:t>1. KPI name and steps calculation.</a:t>
            </a:r>
          </a:p>
          <a:p>
            <a:pPr algn="ctr"/>
            <a:endParaRPr lang="en-IN" dirty="0"/>
          </a:p>
          <a:p>
            <a:r>
              <a:rPr lang="en-IN" dirty="0"/>
              <a:t>Validation methods</a:t>
            </a:r>
          </a:p>
          <a:p>
            <a:r>
              <a:rPr lang="en-IN" dirty="0"/>
              <a:t>Such as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900" dirty="0"/>
              <a:t>Near Miss and Opportunity events always have </a:t>
            </a:r>
            <a:r>
              <a:rPr lang="en-IN" sz="900" dirty="0" err="1"/>
              <a:t>cost_amount</a:t>
            </a:r>
            <a:r>
              <a:rPr lang="en-IN" sz="900" dirty="0"/>
              <a:t> = 0 by design.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900" dirty="0"/>
              <a:t>When a KPI involves a ratio, always verify the denominator is not zero before computing. </a:t>
            </a:r>
          </a:p>
          <a:p>
            <a:pPr marL="342900" indent="-342900">
              <a:buFont typeface="+mj-lt"/>
              <a:buAutoNum type="arabicPeriod"/>
            </a:pPr>
            <a:endParaRPr lang="en-IN" sz="900" dirty="0"/>
          </a:p>
          <a:p>
            <a:pPr marL="342900" indent="-342900">
              <a:buFont typeface="+mj-lt"/>
              <a:buAutoNum type="arabicPeriod"/>
            </a:pPr>
            <a:r>
              <a:rPr lang="en-IN" sz="900" dirty="0"/>
              <a:t>The </a:t>
            </a:r>
            <a:r>
              <a:rPr lang="en-IN" sz="900" dirty="0" err="1"/>
              <a:t>customer_count</a:t>
            </a:r>
            <a:r>
              <a:rPr lang="en-IN" sz="900" dirty="0"/>
              <a:t> column is only meaningful when </a:t>
            </a:r>
            <a:r>
              <a:rPr lang="en-IN" sz="900" dirty="0" err="1"/>
              <a:t>impact_type</a:t>
            </a:r>
            <a:r>
              <a:rPr lang="en-IN" sz="900" dirty="0"/>
              <a:t> = Customer or Commercial</a:t>
            </a:r>
            <a:r>
              <a:rPr lang="en-IN" dirty="0"/>
              <a:t>.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D96C81-3459-E96F-9272-235DC4A7BB88}"/>
              </a:ext>
            </a:extLst>
          </p:cNvPr>
          <p:cNvSpPr/>
          <p:nvPr/>
        </p:nvSpPr>
        <p:spPr>
          <a:xfrm>
            <a:off x="3677920" y="1940560"/>
            <a:ext cx="3799840" cy="4084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ReviewCardGenerator </a:t>
            </a:r>
          </a:p>
          <a:p>
            <a:pPr algn="ctr"/>
            <a:r>
              <a:rPr lang="en-IN" dirty="0"/>
              <a:t>Class</a:t>
            </a:r>
          </a:p>
          <a:p>
            <a:pPr algn="ctr"/>
            <a:r>
              <a:rPr lang="en-IN" dirty="0"/>
              <a:t>KPI Review Card Generated</a:t>
            </a:r>
          </a:p>
          <a:p>
            <a:endParaRPr lang="en-IN" dirty="0"/>
          </a:p>
          <a:p>
            <a:r>
              <a:rPr lang="en-IN" dirty="0"/>
              <a:t>UI should have</a:t>
            </a:r>
          </a:p>
          <a:p>
            <a:endParaRPr lang="en-IN" dirty="0"/>
          </a:p>
          <a:p>
            <a:r>
              <a:rPr lang="en-IN" dirty="0"/>
              <a:t>Validation methods</a:t>
            </a:r>
          </a:p>
          <a:p>
            <a:r>
              <a:rPr lang="en-IN" dirty="0"/>
              <a:t>Such as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900" dirty="0"/>
              <a:t>The Approve button must be disabled if the KPI failed validation.. </a:t>
            </a:r>
            <a:endParaRPr lang="en-IN" dirty="0"/>
          </a:p>
          <a:p>
            <a:pPr algn="ctr"/>
            <a:endParaRPr lang="en-IN" dirty="0"/>
          </a:p>
          <a:p>
            <a:r>
              <a:rPr lang="en-US" sz="900" dirty="0"/>
              <a:t>KPI Name, Description, Formula (human-readable), Computed Value, and Unit.</a:t>
            </a:r>
          </a:p>
          <a:p>
            <a:r>
              <a:rPr lang="en-US" sz="900" dirty="0"/>
              <a:t>Three action buttons: Approve, Edit (returns user to the question flow), and Regenerate (restarts from the KPI name entry).</a:t>
            </a:r>
          </a:p>
          <a:p>
            <a:r>
              <a:rPr lang="en-US" sz="900" dirty="0"/>
              <a:t>A status badge - Good, Warning, or Critical - driven by simple threshold rules you define. 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B07F24-9CE0-2036-17CB-D0B35E7A9213}"/>
              </a:ext>
            </a:extLst>
          </p:cNvPr>
          <p:cNvSpPr/>
          <p:nvPr/>
        </p:nvSpPr>
        <p:spPr>
          <a:xfrm>
            <a:off x="264587" y="1858616"/>
            <a:ext cx="3240613" cy="41892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KPINameReference</a:t>
            </a:r>
            <a:r>
              <a:rPr lang="en-IN" b="1" dirty="0"/>
              <a:t> </a:t>
            </a:r>
          </a:p>
          <a:p>
            <a:pPr algn="ctr"/>
            <a:r>
              <a:rPr lang="en-IN" dirty="0"/>
              <a:t>Class</a:t>
            </a:r>
          </a:p>
          <a:p>
            <a:pPr algn="ctr"/>
            <a:r>
              <a:rPr lang="en-IN" dirty="0"/>
              <a:t>KPI Name should be stored with logics, metric type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1881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2607D0-FD6B-F971-53B4-EA093DEA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B390150-9D2F-2084-E3C0-4C67FB407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DFD45B-FDAE-DD2A-3D14-12FF4DA4D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433CFAC-324D-7D09-780B-4C42295AC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B570F74-3957-F09C-0D49-C72145BB0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4E01D-93C1-DC34-0D55-CF619C077722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 Diagram: High level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8E40B4-5109-E90B-C2EA-C1AAA8DCAD8B}"/>
              </a:ext>
            </a:extLst>
          </p:cNvPr>
          <p:cNvSpPr/>
          <p:nvPr/>
        </p:nvSpPr>
        <p:spPr>
          <a:xfrm>
            <a:off x="7741920" y="1940560"/>
            <a:ext cx="3911600" cy="4084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KPIAgentHandler</a:t>
            </a:r>
          </a:p>
          <a:p>
            <a:pPr algn="ctr"/>
            <a:r>
              <a:rPr lang="en-IN" dirty="0"/>
              <a:t>Class</a:t>
            </a:r>
          </a:p>
          <a:p>
            <a:r>
              <a:rPr lang="en-IN" dirty="0"/>
              <a:t>1. KPI name and steps calculation.</a:t>
            </a:r>
          </a:p>
          <a:p>
            <a:pPr algn="ctr"/>
            <a:endParaRPr lang="en-IN" dirty="0"/>
          </a:p>
          <a:p>
            <a:r>
              <a:rPr lang="en-IN" dirty="0"/>
              <a:t>2. Store data</a:t>
            </a:r>
          </a:p>
          <a:p>
            <a:endParaRPr lang="en-IN" dirty="0"/>
          </a:p>
          <a:p>
            <a:r>
              <a:rPr lang="en-IN" dirty="0"/>
              <a:t>3. Maintain short terms and long term history.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60DA85-9746-FE67-04EE-305891704AE6}"/>
              </a:ext>
            </a:extLst>
          </p:cNvPr>
          <p:cNvSpPr/>
          <p:nvPr/>
        </p:nvSpPr>
        <p:spPr>
          <a:xfrm>
            <a:off x="3677920" y="1940560"/>
            <a:ext cx="3799840" cy="4084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KPIInputHandler</a:t>
            </a:r>
          </a:p>
          <a:p>
            <a:pPr algn="ctr"/>
            <a:r>
              <a:rPr lang="en-IN" dirty="0"/>
              <a:t>Class</a:t>
            </a:r>
          </a:p>
          <a:p>
            <a:r>
              <a:rPr lang="en-IN" dirty="0"/>
              <a:t>Verify KPI Name from the KPI Reference and if available return otherwise calculate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622B7D-F2B3-D7A6-559B-07A4A0437A2C}"/>
              </a:ext>
            </a:extLst>
          </p:cNvPr>
          <p:cNvSpPr/>
          <p:nvPr/>
        </p:nvSpPr>
        <p:spPr>
          <a:xfrm>
            <a:off x="264587" y="1858616"/>
            <a:ext cx="3240613" cy="41892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ConversationalUI</a:t>
            </a:r>
            <a:r>
              <a:rPr lang="en-IN" b="1" dirty="0"/>
              <a:t> </a:t>
            </a:r>
          </a:p>
          <a:p>
            <a:pPr algn="ctr"/>
            <a:r>
              <a:rPr lang="en-IN" dirty="0"/>
              <a:t>Class</a:t>
            </a:r>
          </a:p>
          <a:p>
            <a:pPr algn="ctr"/>
            <a:r>
              <a:rPr lang="en-IN" dirty="0"/>
              <a:t>Accept input from the user as KPI Name</a:t>
            </a:r>
          </a:p>
          <a:p>
            <a:r>
              <a:rPr lang="en-IN" dirty="0"/>
              <a:t>Save conversational history.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5853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85B632-4AD4-B228-6AD3-FDBB4B265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5F7ACB4-9249-E0C8-B3B9-73717BFF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737BB9-A5BE-F7AC-E522-9A23CCC52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246754B-C0A1-E0D1-7E6D-8EAF08A9F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E4EA7DC-FEC5-2CBA-87B2-E59774236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59D006-6DFA-F862-46D6-3FCA5D6BCC2C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 Diagram: High level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36419B-51C5-AC1F-F64C-E2F5C4586055}"/>
              </a:ext>
            </a:extLst>
          </p:cNvPr>
          <p:cNvSpPr/>
          <p:nvPr/>
        </p:nvSpPr>
        <p:spPr>
          <a:xfrm>
            <a:off x="7741920" y="1940560"/>
            <a:ext cx="3911600" cy="4084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KPIPromptHandler</a:t>
            </a:r>
            <a:endParaRPr lang="en-IN" b="1" dirty="0"/>
          </a:p>
          <a:p>
            <a:pPr algn="ctr"/>
            <a:r>
              <a:rPr lang="en-IN" dirty="0"/>
              <a:t>Class</a:t>
            </a:r>
          </a:p>
          <a:p>
            <a:r>
              <a:rPr lang="en-IN" dirty="0"/>
              <a:t>1. KPI name with prompt.</a:t>
            </a:r>
          </a:p>
          <a:p>
            <a:pPr algn="ctr"/>
            <a:endParaRPr lang="en-IN" dirty="0"/>
          </a:p>
          <a:p>
            <a:r>
              <a:rPr lang="en-IN" dirty="0"/>
              <a:t>2. Store data</a:t>
            </a:r>
          </a:p>
          <a:p>
            <a:endParaRPr lang="en-IN" dirty="0"/>
          </a:p>
          <a:p>
            <a:r>
              <a:rPr lang="en-IN" dirty="0"/>
              <a:t>3. Maintain short terms and long term history.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395BB5-ED68-9FF2-B42D-D74080B2F965}"/>
              </a:ext>
            </a:extLst>
          </p:cNvPr>
          <p:cNvSpPr/>
          <p:nvPr/>
        </p:nvSpPr>
        <p:spPr>
          <a:xfrm>
            <a:off x="3677920" y="1940560"/>
            <a:ext cx="3799840" cy="4084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KPIUserFeedbackHandler</a:t>
            </a:r>
            <a:endParaRPr lang="en-IN" b="1" dirty="0"/>
          </a:p>
          <a:p>
            <a:pPr algn="ctr"/>
            <a:r>
              <a:rPr lang="en-IN" dirty="0"/>
              <a:t>Class</a:t>
            </a:r>
          </a:p>
          <a:p>
            <a:r>
              <a:rPr lang="en-IN" dirty="0"/>
              <a:t>Accept User feedback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1C78E4-135A-C50B-12CB-E8DBB8FBD310}"/>
              </a:ext>
            </a:extLst>
          </p:cNvPr>
          <p:cNvSpPr/>
          <p:nvPr/>
        </p:nvSpPr>
        <p:spPr>
          <a:xfrm>
            <a:off x="264587" y="1858616"/>
            <a:ext cx="3240613" cy="41892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strike="sngStrike" dirty="0" err="1"/>
              <a:t>ConversationalUI</a:t>
            </a:r>
            <a:r>
              <a:rPr lang="en-IN" b="1" strike="sngStrike" dirty="0"/>
              <a:t> </a:t>
            </a:r>
          </a:p>
          <a:p>
            <a:pPr algn="ctr"/>
            <a:r>
              <a:rPr lang="en-IN" strike="sngStrike" dirty="0"/>
              <a:t>Class</a:t>
            </a:r>
          </a:p>
          <a:p>
            <a:pPr algn="ctr"/>
            <a:r>
              <a:rPr lang="en-IN" strike="sngStrike" dirty="0"/>
              <a:t>Accept input from the user as KPI Name</a:t>
            </a:r>
          </a:p>
          <a:p>
            <a:r>
              <a:rPr lang="en-IN" strike="sngStrike" dirty="0"/>
              <a:t>Save conversational history.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9205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49914-58C2-236D-4E20-863E0F333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237B61A-67F4-A774-52F1-5C0364171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97C8B0-FDFE-8AE6-A582-A9BE2723B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FF5699-04F3-D56E-72A9-B5B73FAD7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2B2D0-72F7-BE74-351C-0565F9083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EF3A9-FEF5-6091-B4CF-693A6F95E4CD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Flow Diagram: high level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89C0BCC-E48E-A38A-9316-C283AD945EF0}"/>
              </a:ext>
            </a:extLst>
          </p:cNvPr>
          <p:cNvSpPr/>
          <p:nvPr/>
        </p:nvSpPr>
        <p:spPr>
          <a:xfrm>
            <a:off x="345440" y="1858617"/>
            <a:ext cx="1625600" cy="148402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1. Python app.py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414E8F-66FE-2DC4-856F-934DF9FCBB88}"/>
              </a:ext>
            </a:extLst>
          </p:cNvPr>
          <p:cNvSpPr/>
          <p:nvPr/>
        </p:nvSpPr>
        <p:spPr>
          <a:xfrm>
            <a:off x="345440" y="3667760"/>
            <a:ext cx="1706880" cy="670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App.py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18DD2CE5-E1F8-82A3-A36E-439EAE0F5B70}"/>
              </a:ext>
            </a:extLst>
          </p:cNvPr>
          <p:cNvSpPr/>
          <p:nvPr/>
        </p:nvSpPr>
        <p:spPr>
          <a:xfrm>
            <a:off x="1076960" y="3342640"/>
            <a:ext cx="193040" cy="32512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324CC2-8B55-23F7-2FA6-05BB2D4AA06B}"/>
              </a:ext>
            </a:extLst>
          </p:cNvPr>
          <p:cNvSpPr/>
          <p:nvPr/>
        </p:nvSpPr>
        <p:spPr>
          <a:xfrm>
            <a:off x="2895600" y="1817977"/>
            <a:ext cx="1991360" cy="148402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2. ReviewCardGenerator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FBC081-B2D3-E689-928C-FD1E3A6050E5}"/>
              </a:ext>
            </a:extLst>
          </p:cNvPr>
          <p:cNvSpPr/>
          <p:nvPr/>
        </p:nvSpPr>
        <p:spPr>
          <a:xfrm>
            <a:off x="2895600" y="3627120"/>
            <a:ext cx="1706880" cy="670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App.py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43337447-8BB4-F6D8-DC7E-D52A4A5C2363}"/>
              </a:ext>
            </a:extLst>
          </p:cNvPr>
          <p:cNvSpPr/>
          <p:nvPr/>
        </p:nvSpPr>
        <p:spPr>
          <a:xfrm>
            <a:off x="3627120" y="3302000"/>
            <a:ext cx="193040" cy="32512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7C74773-C413-0F36-389D-E79ADC060260}"/>
              </a:ext>
            </a:extLst>
          </p:cNvPr>
          <p:cNvCxnSpPr>
            <a:stCxn id="2" idx="6"/>
            <a:endCxn id="6" idx="2"/>
          </p:cNvCxnSpPr>
          <p:nvPr/>
        </p:nvCxnSpPr>
        <p:spPr>
          <a:xfrm flipV="1">
            <a:off x="1971040" y="2559989"/>
            <a:ext cx="924560" cy="40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0F2CA34-D788-8930-6E1D-BD3E44115F1F}"/>
              </a:ext>
            </a:extLst>
          </p:cNvPr>
          <p:cNvSpPr/>
          <p:nvPr/>
        </p:nvSpPr>
        <p:spPr>
          <a:xfrm>
            <a:off x="5648960" y="1970377"/>
            <a:ext cx="2225040" cy="148402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3. </a:t>
            </a:r>
            <a:r>
              <a:rPr lang="en-IN" dirty="0" err="1"/>
              <a:t>AgentHandler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E76D45-2E51-C2C9-6958-EE7A8002FB12}"/>
              </a:ext>
            </a:extLst>
          </p:cNvPr>
          <p:cNvSpPr/>
          <p:nvPr/>
        </p:nvSpPr>
        <p:spPr>
          <a:xfrm>
            <a:off x="4886960" y="3779520"/>
            <a:ext cx="2702562" cy="4375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review_card_generator.py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E7B724FC-2D8E-CFBB-109E-069FED74BE4D}"/>
              </a:ext>
            </a:extLst>
          </p:cNvPr>
          <p:cNvSpPr/>
          <p:nvPr/>
        </p:nvSpPr>
        <p:spPr>
          <a:xfrm>
            <a:off x="6380480" y="3454400"/>
            <a:ext cx="193040" cy="32512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B0AED9-8CA3-A26B-2A97-E1FECDE87035}"/>
              </a:ext>
            </a:extLst>
          </p:cNvPr>
          <p:cNvSpPr/>
          <p:nvPr/>
        </p:nvSpPr>
        <p:spPr>
          <a:xfrm>
            <a:off x="2143760" y="4735223"/>
            <a:ext cx="3505200" cy="670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Instance of </a:t>
            </a:r>
            <a:r>
              <a:rPr lang="en-IN" dirty="0" err="1"/>
              <a:t>ReviewcardGenerator</a:t>
            </a:r>
            <a:endParaRPr lang="en-IN" dirty="0"/>
          </a:p>
          <a:p>
            <a:pPr algn="ctr"/>
            <a:r>
              <a:rPr lang="en-IN" dirty="0"/>
              <a:t>Call </a:t>
            </a:r>
            <a:r>
              <a:rPr lang="en-IN" dirty="0" err="1"/>
              <a:t>run_review_card</a:t>
            </a:r>
            <a:r>
              <a:rPr lang="en-IN" dirty="0"/>
              <a:t> method 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3D7616B4-449F-590E-4C49-5AC584969CEB}"/>
              </a:ext>
            </a:extLst>
          </p:cNvPr>
          <p:cNvSpPr/>
          <p:nvPr/>
        </p:nvSpPr>
        <p:spPr>
          <a:xfrm>
            <a:off x="3627120" y="4318000"/>
            <a:ext cx="193040" cy="427383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16795AE-F24E-19AC-4B6E-76D640922803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4886960" y="2712389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4903AD1-3023-4F01-16CE-ADEB992A699F}"/>
              </a:ext>
            </a:extLst>
          </p:cNvPr>
          <p:cNvSpPr/>
          <p:nvPr/>
        </p:nvSpPr>
        <p:spPr>
          <a:xfrm>
            <a:off x="4209605" y="5538857"/>
            <a:ext cx="3584774" cy="670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Instance of </a:t>
            </a:r>
            <a:r>
              <a:rPr lang="en-IN" dirty="0" err="1"/>
              <a:t>KPIAgentHandler</a:t>
            </a:r>
            <a:endParaRPr lang="en-IN" dirty="0"/>
          </a:p>
          <a:p>
            <a:pPr algn="ctr"/>
            <a:r>
              <a:rPr lang="en-IN" dirty="0"/>
              <a:t>Call </a:t>
            </a:r>
            <a:r>
              <a:rPr lang="en-IN" dirty="0" err="1"/>
              <a:t>run_flow</a:t>
            </a:r>
            <a:r>
              <a:rPr lang="en-IN" dirty="0"/>
              <a:t>() method 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0F3CF0AB-A43A-ADF1-C865-86F614B03EBC}"/>
              </a:ext>
            </a:extLst>
          </p:cNvPr>
          <p:cNvSpPr/>
          <p:nvPr/>
        </p:nvSpPr>
        <p:spPr>
          <a:xfrm>
            <a:off x="6380480" y="4257040"/>
            <a:ext cx="193040" cy="1270663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3F09ED1-D85F-70E0-8561-CBDF3AFD7961}"/>
              </a:ext>
            </a:extLst>
          </p:cNvPr>
          <p:cNvSpPr/>
          <p:nvPr/>
        </p:nvSpPr>
        <p:spPr>
          <a:xfrm>
            <a:off x="8707120" y="1686070"/>
            <a:ext cx="3058160" cy="148402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4. KPI name </a:t>
            </a:r>
            <a:r>
              <a:rPr lang="en-IN" dirty="0" err="1"/>
              <a:t>entryform</a:t>
            </a:r>
            <a:r>
              <a:rPr lang="en-IN" dirty="0"/>
              <a:t> with UI.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C1243A-9CD9-915F-A681-E57A6358A60E}"/>
              </a:ext>
            </a:extLst>
          </p:cNvPr>
          <p:cNvSpPr/>
          <p:nvPr/>
        </p:nvSpPr>
        <p:spPr>
          <a:xfrm>
            <a:off x="8635150" y="3495213"/>
            <a:ext cx="2870871" cy="4375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kpi_agent_handler.py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F6DE0A7E-6933-A792-6498-6F365E67FCDE}"/>
              </a:ext>
            </a:extLst>
          </p:cNvPr>
          <p:cNvSpPr/>
          <p:nvPr/>
        </p:nvSpPr>
        <p:spPr>
          <a:xfrm>
            <a:off x="9788128" y="3170093"/>
            <a:ext cx="205062" cy="32512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34A86A-D14E-F0FE-65F6-B8D2D4C8255E}"/>
              </a:ext>
            </a:extLst>
          </p:cNvPr>
          <p:cNvSpPr/>
          <p:nvPr/>
        </p:nvSpPr>
        <p:spPr>
          <a:xfrm>
            <a:off x="8128856" y="4653782"/>
            <a:ext cx="3993683" cy="19400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Instance of </a:t>
            </a:r>
            <a:r>
              <a:rPr lang="en-IN" dirty="0" err="1"/>
              <a:t>KPINameReference</a:t>
            </a:r>
            <a:r>
              <a:rPr lang="en-IN" dirty="0"/>
              <a:t>, </a:t>
            </a:r>
            <a:r>
              <a:rPr lang="en-IN" dirty="0" err="1"/>
              <a:t>KPIOperationalEventLoader</a:t>
            </a:r>
            <a:r>
              <a:rPr lang="en-IN" dirty="0"/>
              <a:t>, </a:t>
            </a:r>
            <a:r>
              <a:rPr lang="en-IN" dirty="0" err="1"/>
              <a:t>KPIInputHandler</a:t>
            </a:r>
            <a:endParaRPr lang="en-IN" dirty="0"/>
          </a:p>
          <a:p>
            <a:r>
              <a:rPr lang="en-IN" dirty="0"/>
              <a:t>Call </a:t>
            </a:r>
            <a:r>
              <a:rPr lang="en-IN" dirty="0" err="1"/>
              <a:t>reference.execute_intent</a:t>
            </a:r>
            <a:r>
              <a:rPr lang="en-IN" dirty="0"/>
              <a:t> , </a:t>
            </a:r>
            <a:r>
              <a:rPr lang="en-IN" dirty="0" err="1"/>
              <a:t>inputhandler.handle_input</a:t>
            </a:r>
            <a:endParaRPr lang="en-IN" dirty="0"/>
          </a:p>
          <a:p>
            <a:r>
              <a:rPr lang="en-IN" dirty="0"/>
              <a:t>method </a:t>
            </a: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00027A48-2B3A-57BA-24D1-D3ACF76361CC}"/>
              </a:ext>
            </a:extLst>
          </p:cNvPr>
          <p:cNvSpPr/>
          <p:nvPr/>
        </p:nvSpPr>
        <p:spPr>
          <a:xfrm>
            <a:off x="9788128" y="3972734"/>
            <a:ext cx="260112" cy="77265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91C3D17-9A4E-C361-7AB5-09E4FD246AF2}"/>
              </a:ext>
            </a:extLst>
          </p:cNvPr>
          <p:cNvCxnSpPr>
            <a:cxnSpLocks/>
          </p:cNvCxnSpPr>
          <p:nvPr/>
        </p:nvCxnSpPr>
        <p:spPr>
          <a:xfrm>
            <a:off x="7894320" y="2559989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437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8DD24-CBD7-286C-114C-9A1A39E8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B3CA2A5-315C-1B33-AA0A-86EC38690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6ECDDB-B3FF-2C6E-F599-6E1ED2005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0514F3-FFA8-4088-BD3F-AFBECA254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C0806B-FEA2-7BF6-62FF-9FDD56968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C04375-AD20-AA23-62C8-393415D3C3E8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Flow Diagram : High level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BEE6D92-0215-53A2-50A2-BC474BF37500}"/>
              </a:ext>
            </a:extLst>
          </p:cNvPr>
          <p:cNvSpPr/>
          <p:nvPr/>
        </p:nvSpPr>
        <p:spPr>
          <a:xfrm>
            <a:off x="345440" y="1858617"/>
            <a:ext cx="1625600" cy="148402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1. Output to the user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4CC74E-FF1D-FD44-3601-5BFA4D7C7D3D}"/>
              </a:ext>
            </a:extLst>
          </p:cNvPr>
          <p:cNvSpPr/>
          <p:nvPr/>
        </p:nvSpPr>
        <p:spPr>
          <a:xfrm>
            <a:off x="345440" y="3667760"/>
            <a:ext cx="1706880" cy="670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App.py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671AC9EA-C677-9056-3216-EBCF2FDEB43B}"/>
              </a:ext>
            </a:extLst>
          </p:cNvPr>
          <p:cNvSpPr/>
          <p:nvPr/>
        </p:nvSpPr>
        <p:spPr>
          <a:xfrm>
            <a:off x="1076960" y="3342640"/>
            <a:ext cx="193040" cy="32512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74A6F2-3F71-4EAC-CE11-AF2CCBA7C65A}"/>
              </a:ext>
            </a:extLst>
          </p:cNvPr>
          <p:cNvSpPr/>
          <p:nvPr/>
        </p:nvSpPr>
        <p:spPr>
          <a:xfrm>
            <a:off x="2895600" y="1817977"/>
            <a:ext cx="1991360" cy="148402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2. Generate </a:t>
            </a:r>
            <a:r>
              <a:rPr lang="en-IN" dirty="0" err="1"/>
              <a:t>ReviewCard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7A5266-A6CE-6E24-C2AA-69C0C8C12440}"/>
              </a:ext>
            </a:extLst>
          </p:cNvPr>
          <p:cNvSpPr/>
          <p:nvPr/>
        </p:nvSpPr>
        <p:spPr>
          <a:xfrm>
            <a:off x="2895600" y="3627120"/>
            <a:ext cx="1706880" cy="670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App.py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8385D01-73B8-517A-EBC4-F7AC5A8B5D6E}"/>
              </a:ext>
            </a:extLst>
          </p:cNvPr>
          <p:cNvSpPr/>
          <p:nvPr/>
        </p:nvSpPr>
        <p:spPr>
          <a:xfrm>
            <a:off x="3627120" y="3302000"/>
            <a:ext cx="193040" cy="32512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0F9875-CA7D-146F-C96B-BF84C8798C70}"/>
              </a:ext>
            </a:extLst>
          </p:cNvPr>
          <p:cNvSpPr/>
          <p:nvPr/>
        </p:nvSpPr>
        <p:spPr>
          <a:xfrm>
            <a:off x="5648960" y="1970377"/>
            <a:ext cx="2225040" cy="148402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6. Execute intent and validate intent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29CC3D-2357-7052-1C03-737E126D011A}"/>
              </a:ext>
            </a:extLst>
          </p:cNvPr>
          <p:cNvSpPr/>
          <p:nvPr/>
        </p:nvSpPr>
        <p:spPr>
          <a:xfrm>
            <a:off x="4886960" y="3779520"/>
            <a:ext cx="2702562" cy="4375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kpi_name_reference.py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56302F5D-6D39-1825-07D8-4D54C9E5EB3A}"/>
              </a:ext>
            </a:extLst>
          </p:cNvPr>
          <p:cNvSpPr/>
          <p:nvPr/>
        </p:nvSpPr>
        <p:spPr>
          <a:xfrm>
            <a:off x="6380480" y="3454400"/>
            <a:ext cx="193040" cy="32512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4793D9-F5F7-8AAF-E966-548FE98D3ADB}"/>
              </a:ext>
            </a:extLst>
          </p:cNvPr>
          <p:cNvSpPr/>
          <p:nvPr/>
        </p:nvSpPr>
        <p:spPr>
          <a:xfrm>
            <a:off x="2143760" y="4735223"/>
            <a:ext cx="3505200" cy="670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Return value from Agent handler 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1E0FE6B3-CAA9-B671-BF6A-ABBD4C345064}"/>
              </a:ext>
            </a:extLst>
          </p:cNvPr>
          <p:cNvSpPr/>
          <p:nvPr/>
        </p:nvSpPr>
        <p:spPr>
          <a:xfrm>
            <a:off x="3627120" y="4318000"/>
            <a:ext cx="193040" cy="427383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FF24D2-D2FC-487C-156F-2F0CC2DEE0C1}"/>
              </a:ext>
            </a:extLst>
          </p:cNvPr>
          <p:cNvSpPr/>
          <p:nvPr/>
        </p:nvSpPr>
        <p:spPr>
          <a:xfrm>
            <a:off x="4209605" y="5538856"/>
            <a:ext cx="3584774" cy="11870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Instance of </a:t>
            </a:r>
            <a:r>
              <a:rPr lang="en-IN" dirty="0" err="1"/>
              <a:t>KPINameReference</a:t>
            </a:r>
            <a:endParaRPr lang="en-IN" dirty="0"/>
          </a:p>
          <a:p>
            <a:pPr algn="ctr"/>
            <a:r>
              <a:rPr lang="en-IN" dirty="0"/>
              <a:t>Call execute() method</a:t>
            </a:r>
          </a:p>
          <a:p>
            <a:pPr algn="ctr"/>
            <a:r>
              <a:rPr lang="en-IN" dirty="0"/>
              <a:t>Call LLM in case not found to method list.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A0711CDE-9EB3-5A10-9834-F23AA950DC09}"/>
              </a:ext>
            </a:extLst>
          </p:cNvPr>
          <p:cNvSpPr/>
          <p:nvPr/>
        </p:nvSpPr>
        <p:spPr>
          <a:xfrm>
            <a:off x="6380480" y="4257040"/>
            <a:ext cx="193040" cy="1270663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DF1E896-515F-F0DB-678C-3D78EC54C424}"/>
              </a:ext>
            </a:extLst>
          </p:cNvPr>
          <p:cNvSpPr/>
          <p:nvPr/>
        </p:nvSpPr>
        <p:spPr>
          <a:xfrm>
            <a:off x="8707120" y="1686070"/>
            <a:ext cx="3058160" cy="148402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5. Load operation_event.xls file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CDD0E4-868C-133A-535C-2402DC9F10CC}"/>
              </a:ext>
            </a:extLst>
          </p:cNvPr>
          <p:cNvSpPr/>
          <p:nvPr/>
        </p:nvSpPr>
        <p:spPr>
          <a:xfrm>
            <a:off x="8635150" y="3495213"/>
            <a:ext cx="2870871" cy="4375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kpi_loader.py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9EFF6F56-B6C4-4EEC-DE27-9471CE36DB4B}"/>
              </a:ext>
            </a:extLst>
          </p:cNvPr>
          <p:cNvSpPr/>
          <p:nvPr/>
        </p:nvSpPr>
        <p:spPr>
          <a:xfrm>
            <a:off x="9788128" y="3170093"/>
            <a:ext cx="205062" cy="32512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10A5E4-602F-19D2-A890-681F56D7CFA6}"/>
              </a:ext>
            </a:extLst>
          </p:cNvPr>
          <p:cNvSpPr/>
          <p:nvPr/>
        </p:nvSpPr>
        <p:spPr>
          <a:xfrm>
            <a:off x="8128856" y="4653782"/>
            <a:ext cx="3993683" cy="19400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Instance of </a:t>
            </a:r>
            <a:r>
              <a:rPr lang="en-IN" dirty="0" err="1"/>
              <a:t>KPIOperationalEventLoader</a:t>
            </a:r>
            <a:r>
              <a:rPr lang="en-IN" dirty="0"/>
              <a:t> with all provide methods with </a:t>
            </a:r>
            <a:r>
              <a:rPr lang="en-IN" dirty="0" err="1"/>
              <a:t>KPIName</a:t>
            </a:r>
            <a:r>
              <a:rPr lang="en-IN" dirty="0"/>
              <a:t>, logics and calculation based on data.</a:t>
            </a: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85305493-AFD7-FF1E-7120-AD4F2DD4AC7B}"/>
              </a:ext>
            </a:extLst>
          </p:cNvPr>
          <p:cNvSpPr/>
          <p:nvPr/>
        </p:nvSpPr>
        <p:spPr>
          <a:xfrm>
            <a:off x="9788128" y="3972734"/>
            <a:ext cx="260112" cy="77265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5B306D8-78E5-6843-F16D-6EE7A1E4F851}"/>
              </a:ext>
            </a:extLst>
          </p:cNvPr>
          <p:cNvCxnSpPr>
            <a:cxnSpLocks/>
          </p:cNvCxnSpPr>
          <p:nvPr/>
        </p:nvCxnSpPr>
        <p:spPr>
          <a:xfrm flipV="1">
            <a:off x="7894320" y="2133600"/>
            <a:ext cx="234536" cy="426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F49AA7-D20C-2A3A-4EB9-347FAB2F7425}"/>
              </a:ext>
            </a:extLst>
          </p:cNvPr>
          <p:cNvCxnSpPr>
            <a:cxnSpLocks/>
            <a:stCxn id="23" idx="2"/>
          </p:cNvCxnSpPr>
          <p:nvPr/>
        </p:nvCxnSpPr>
        <p:spPr>
          <a:xfrm flipH="1" flipV="1">
            <a:off x="8483600" y="2133600"/>
            <a:ext cx="223520" cy="294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F17DF3E6-EEDD-7542-BE63-E2BCAEE23FBF}"/>
              </a:ext>
            </a:extLst>
          </p:cNvPr>
          <p:cNvSpPr/>
          <p:nvPr/>
        </p:nvSpPr>
        <p:spPr>
          <a:xfrm>
            <a:off x="7249993" y="1686070"/>
            <a:ext cx="1782247" cy="51814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  <a:p>
            <a:pPr algn="ctr"/>
            <a:r>
              <a:rPr lang="en-IN" sz="1000" dirty="0"/>
              <a:t>Return to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DBA22C3-CB48-595F-EE00-A4B940714AB0}"/>
              </a:ext>
            </a:extLst>
          </p:cNvPr>
          <p:cNvCxnSpPr/>
          <p:nvPr/>
        </p:nvCxnSpPr>
        <p:spPr>
          <a:xfrm flipH="1">
            <a:off x="4724400" y="1817977"/>
            <a:ext cx="2661920" cy="3156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E236AB8-9EC7-220D-5033-1A9E02A3BC7D}"/>
              </a:ext>
            </a:extLst>
          </p:cNvPr>
          <p:cNvCxnSpPr>
            <a:stCxn id="6" idx="2"/>
            <a:endCxn id="2" idx="6"/>
          </p:cNvCxnSpPr>
          <p:nvPr/>
        </p:nvCxnSpPr>
        <p:spPr>
          <a:xfrm flipH="1">
            <a:off x="1971040" y="2559989"/>
            <a:ext cx="924560" cy="40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800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251BB-FA0B-2835-8F6A-CCE364B35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EE10B53-947F-9913-667F-715130B0D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BDA166-9E20-50B6-8303-1308771B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D563BD-273E-393F-459E-897D5112A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286638F-13BD-1C05-611D-24E2F6DFC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CB9C2-073E-8359-D17D-90E8D5187C86}"/>
              </a:ext>
            </a:extLst>
          </p:cNvPr>
          <p:cNvSpPr txBox="1"/>
          <p:nvPr/>
        </p:nvSpPr>
        <p:spPr>
          <a:xfrm>
            <a:off x="52240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Flow Diagram: High level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8DAEF5C-317E-78CE-14DB-CF32463E8399}"/>
              </a:ext>
            </a:extLst>
          </p:cNvPr>
          <p:cNvSpPr/>
          <p:nvPr/>
        </p:nvSpPr>
        <p:spPr>
          <a:xfrm>
            <a:off x="345440" y="1858617"/>
            <a:ext cx="1625600" cy="148402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1. Output to the user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AC57C7-32E8-A111-238F-E9D487E3A1E9}"/>
              </a:ext>
            </a:extLst>
          </p:cNvPr>
          <p:cNvSpPr/>
          <p:nvPr/>
        </p:nvSpPr>
        <p:spPr>
          <a:xfrm>
            <a:off x="345440" y="3667760"/>
            <a:ext cx="1706880" cy="670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App.py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92EC8F11-AA14-FDA8-D08F-F394B393EA78}"/>
              </a:ext>
            </a:extLst>
          </p:cNvPr>
          <p:cNvSpPr/>
          <p:nvPr/>
        </p:nvSpPr>
        <p:spPr>
          <a:xfrm>
            <a:off x="1076960" y="3342640"/>
            <a:ext cx="193040" cy="32512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A4C23F3-9EFD-69C2-BFB4-4F1F2B74BA2A}"/>
              </a:ext>
            </a:extLst>
          </p:cNvPr>
          <p:cNvSpPr/>
          <p:nvPr/>
        </p:nvSpPr>
        <p:spPr>
          <a:xfrm>
            <a:off x="2895600" y="1817977"/>
            <a:ext cx="1991360" cy="148402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2. Generate Review Card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6C5A8E-9B92-E322-024B-56620773D227}"/>
              </a:ext>
            </a:extLst>
          </p:cNvPr>
          <p:cNvSpPr/>
          <p:nvPr/>
        </p:nvSpPr>
        <p:spPr>
          <a:xfrm>
            <a:off x="2895600" y="3627120"/>
            <a:ext cx="1706880" cy="670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App.py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644E773-7218-F1DB-BA6B-F16F5EA87307}"/>
              </a:ext>
            </a:extLst>
          </p:cNvPr>
          <p:cNvSpPr/>
          <p:nvPr/>
        </p:nvSpPr>
        <p:spPr>
          <a:xfrm>
            <a:off x="3627120" y="3302000"/>
            <a:ext cx="193040" cy="32512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686ADE-3A31-58C8-735D-E7FF8C5E7934}"/>
              </a:ext>
            </a:extLst>
          </p:cNvPr>
          <p:cNvSpPr/>
          <p:nvPr/>
        </p:nvSpPr>
        <p:spPr>
          <a:xfrm>
            <a:off x="2143760" y="4735223"/>
            <a:ext cx="3505200" cy="670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Return value from Agent handler 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E954FAD-4EC6-E143-CD2C-87B316D82804}"/>
              </a:ext>
            </a:extLst>
          </p:cNvPr>
          <p:cNvSpPr/>
          <p:nvPr/>
        </p:nvSpPr>
        <p:spPr>
          <a:xfrm>
            <a:off x="3627120" y="4318000"/>
            <a:ext cx="193040" cy="427383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295DAC1-1667-B9DD-ED87-5EC847408864}"/>
              </a:ext>
            </a:extLst>
          </p:cNvPr>
          <p:cNvSpPr/>
          <p:nvPr/>
        </p:nvSpPr>
        <p:spPr>
          <a:xfrm>
            <a:off x="8707120" y="1686070"/>
            <a:ext cx="3139440" cy="148402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7. Load </a:t>
            </a:r>
            <a:r>
              <a:rPr lang="en-IN" dirty="0" err="1"/>
              <a:t>KPIAgenticToolHandler</a:t>
            </a:r>
            <a:r>
              <a:rPr lang="en-IN" dirty="0"/>
              <a:t> class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F5402B-7B76-923D-57B5-ECF1F1A120B3}"/>
              </a:ext>
            </a:extLst>
          </p:cNvPr>
          <p:cNvSpPr/>
          <p:nvPr/>
        </p:nvSpPr>
        <p:spPr>
          <a:xfrm>
            <a:off x="8635150" y="3495213"/>
            <a:ext cx="3139440" cy="4375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kpi_agentic_tools_handler.py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6B6C255C-45F1-43A8-A855-2E4ABCE172F8}"/>
              </a:ext>
            </a:extLst>
          </p:cNvPr>
          <p:cNvSpPr/>
          <p:nvPr/>
        </p:nvSpPr>
        <p:spPr>
          <a:xfrm>
            <a:off x="9788128" y="3170093"/>
            <a:ext cx="205062" cy="32512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5CEB93-31F3-C936-DEE3-583CBD78FFF0}"/>
              </a:ext>
            </a:extLst>
          </p:cNvPr>
          <p:cNvSpPr/>
          <p:nvPr/>
        </p:nvSpPr>
        <p:spPr>
          <a:xfrm>
            <a:off x="8128856" y="4653782"/>
            <a:ext cx="3993683" cy="19400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Instance of </a:t>
            </a:r>
            <a:r>
              <a:rPr lang="en-IN" dirty="0" err="1"/>
              <a:t>langchain</a:t>
            </a:r>
            <a:r>
              <a:rPr lang="en-IN" dirty="0"/>
              <a:t>, </a:t>
            </a:r>
            <a:r>
              <a:rPr lang="en-IN" dirty="0" err="1"/>
              <a:t>langgraph</a:t>
            </a:r>
            <a:r>
              <a:rPr lang="en-IN" dirty="0"/>
              <a:t>, and </a:t>
            </a:r>
            <a:r>
              <a:rPr lang="en-IN" dirty="0" err="1"/>
              <a:t>langsmith</a:t>
            </a:r>
            <a:r>
              <a:rPr lang="en-IN" dirty="0"/>
              <a:t> tool invocation with execute and validate intents</a:t>
            </a: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05DEC669-C428-2371-6F13-E8F1BDAB427E}"/>
              </a:ext>
            </a:extLst>
          </p:cNvPr>
          <p:cNvSpPr/>
          <p:nvPr/>
        </p:nvSpPr>
        <p:spPr>
          <a:xfrm>
            <a:off x="9788128" y="3972734"/>
            <a:ext cx="260112" cy="77265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1BB92F-B6B9-326F-D425-5E74B7E1BB47}"/>
              </a:ext>
            </a:extLst>
          </p:cNvPr>
          <p:cNvCxnSpPr>
            <a:cxnSpLocks/>
            <a:stCxn id="23" idx="2"/>
            <a:endCxn id="30" idx="6"/>
          </p:cNvCxnSpPr>
          <p:nvPr/>
        </p:nvCxnSpPr>
        <p:spPr>
          <a:xfrm flipH="1">
            <a:off x="7975192" y="2428082"/>
            <a:ext cx="731928" cy="219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143E7F4A-EA19-B8EA-B71F-B8E88A4A175D}"/>
              </a:ext>
            </a:extLst>
          </p:cNvPr>
          <p:cNvSpPr/>
          <p:nvPr/>
        </p:nvSpPr>
        <p:spPr>
          <a:xfrm>
            <a:off x="5791200" y="1952207"/>
            <a:ext cx="2183992" cy="13904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  <a:p>
            <a:pPr algn="ctr"/>
            <a:r>
              <a:rPr lang="en-IN" sz="1000" dirty="0"/>
              <a:t>Return to</a:t>
            </a:r>
          </a:p>
          <a:p>
            <a:pPr algn="ctr"/>
            <a:r>
              <a:rPr lang="en-IN" sz="1000" dirty="0"/>
              <a:t>kpi_agent_handler.py</a:t>
            </a:r>
          </a:p>
          <a:p>
            <a:pPr algn="ctr"/>
            <a:endParaRPr lang="en-IN" sz="10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3029126-AA30-509A-18E2-3912F4A5671E}"/>
              </a:ext>
            </a:extLst>
          </p:cNvPr>
          <p:cNvCxnSpPr>
            <a:cxnSpLocks/>
            <a:stCxn id="30" idx="2"/>
          </p:cNvCxnSpPr>
          <p:nvPr/>
        </p:nvCxnSpPr>
        <p:spPr>
          <a:xfrm flipH="1" flipV="1">
            <a:off x="4805680" y="2428081"/>
            <a:ext cx="985520" cy="219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F74D757-953C-9938-3279-B52C4BE9C518}"/>
              </a:ext>
            </a:extLst>
          </p:cNvPr>
          <p:cNvCxnSpPr>
            <a:stCxn id="6" idx="2"/>
            <a:endCxn id="2" idx="6"/>
          </p:cNvCxnSpPr>
          <p:nvPr/>
        </p:nvCxnSpPr>
        <p:spPr>
          <a:xfrm flipH="1">
            <a:off x="1971040" y="2559989"/>
            <a:ext cx="924560" cy="40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519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F9B35-1391-CA71-77A0-FCE0C7CBD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6EDFDF-C07B-CBA3-04CF-8D0B2FE43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999" y="997684"/>
            <a:ext cx="4833772" cy="36759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03A1FC-F29F-2ADB-CB4B-15960D023E57}"/>
              </a:ext>
            </a:extLst>
          </p:cNvPr>
          <p:cNvSpPr txBox="1"/>
          <p:nvPr/>
        </p:nvSpPr>
        <p:spPr>
          <a:xfrm>
            <a:off x="5120640" y="4350433"/>
            <a:ext cx="318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Logging</a:t>
            </a:r>
          </a:p>
        </p:txBody>
      </p:sp>
    </p:spTree>
    <p:extLst>
      <p:ext uri="{BB962C8B-B14F-4D97-AF65-F5344CB8AC3E}">
        <p14:creationId xmlns:p14="http://schemas.microsoft.com/office/powerpoint/2010/main" val="1976906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E7E96-15B0-6F38-B0A7-097E9F6DD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96D3F56-400A-59A9-B518-4522212C4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3B6325-8BD3-3222-EF80-53F444A52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1A801B-1703-8700-834B-09349762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4BB9DF-7EC1-99AB-5792-F0353CC80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38471-CE92-E357-5DF0-DFCE943C9C8E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Logging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: Used </a:t>
            </a:r>
            <a:r>
              <a:rPr lang="en-US" sz="4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Langsmith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B3F06D-D673-FADC-ECDD-10240895E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4" y="1904092"/>
            <a:ext cx="11574609" cy="2454216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9E05F9-FC89-552C-CB51-498FA615A838}"/>
              </a:ext>
            </a:extLst>
          </p:cNvPr>
          <p:cNvSpPr txBox="1"/>
          <p:nvPr/>
        </p:nvSpPr>
        <p:spPr>
          <a:xfrm>
            <a:off x="532567" y="4846320"/>
            <a:ext cx="1045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00FFFF"/>
                </a:highlight>
              </a:rPr>
              <a:t>Extend to local logging text file with python log file</a:t>
            </a:r>
            <a:r>
              <a:rPr lang="en-IN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4FA11D-6BB5-7449-5B2C-1050512BC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681" y="4203092"/>
            <a:ext cx="3304318" cy="22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877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EBE0-A9D4-F4A8-B54D-32A4097BA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5E0652-30BC-C962-74D2-66A61E35C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519" y="906244"/>
            <a:ext cx="4833772" cy="36759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EAD1BE-E3DE-B110-7F16-DFDD6CCF5FA6}"/>
              </a:ext>
            </a:extLst>
          </p:cNvPr>
          <p:cNvSpPr txBox="1"/>
          <p:nvPr/>
        </p:nvSpPr>
        <p:spPr>
          <a:xfrm>
            <a:off x="4917440" y="4350433"/>
            <a:ext cx="3931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811270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F9D14-578E-D2C8-E1EC-5B75F2F98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20F2649-BF1F-8DDD-66CF-978551F60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97A087-6D0F-0930-CD0B-F5821E99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A36148-0AED-F0E4-5175-0EE95F1AA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16B407A-F017-F87F-9B5F-CE0F17A37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408E0-C515-C1E5-E028-6AE21A20BFB0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Directory Structure: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69472F-F83D-41D7-019E-FFF5CCCBD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837" y="486182"/>
            <a:ext cx="4268923" cy="58856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D2270A-D7CD-56FD-0BC3-CBA3E516A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81" y="2384451"/>
            <a:ext cx="3304318" cy="22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54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4A16E-FDED-E0EB-FB83-6A1B7973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5D6B1E6-A0CE-B2E6-B294-DB9127CA6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5A0519-EB69-779D-AA12-05484F847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855F2F-20EA-BAF4-945F-5059CE52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DAA69DF-8F86-04AD-2A03-86598D287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09757-48D2-B2F0-6546-9D92B3AE7897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Unit Test case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AAABA5-42C5-CAA5-8C47-CE0E81FAD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993" y="1427322"/>
            <a:ext cx="5920017" cy="49539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28DB11-705A-C339-E3FF-E46DFA59E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42" y="2199797"/>
            <a:ext cx="3305636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965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0FA26-B7A6-A76F-BDC3-71DD3A5AB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B4A1B84-FCA1-9910-6708-12647B571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20D5A30-9FE8-05EE-A373-BA50FDB39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A3768C-A1B9-1E51-F5F6-1E5BDF855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2261E7-4E4E-987A-FA96-D96D03BD4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641636-8C86-210C-A902-3F2AFB31B94B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Integration Test case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56DEA2-89E0-6AF4-564C-8E8DE390D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182" y="2281077"/>
            <a:ext cx="3305636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694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F550D6-D480-F952-CB50-D99AC11A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C686FB1-71E3-8EAC-805E-C70345354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75CDC0-00DE-7E13-CED3-C7C38A999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6DC054-96B3-F217-8CEB-339FC50B5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9F1372-1767-4ABB-C2FF-579323AC6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3174D-4A48-EEC1-F845-E8818CEBCB10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Uesr</a:t>
            </a: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Acceptance Test case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59C8D3-3F7A-2737-7858-7C97CBCD0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182" y="2281077"/>
            <a:ext cx="3305636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135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E9359-DA89-3A59-CAD6-66B5A28EA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1A68FE3-1860-28A8-4A70-59F12A68C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DBF8F0-8F80-50ED-CAD8-7AE6AEEB1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FB37AA-BC0E-FACD-0150-79C1E12F3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64FB2D-5B61-4E9F-85D9-A5F8EB20E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1C305F-FE50-35E9-125F-C33FAA399B8B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Deployment script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79CF40-CFD8-724D-4A04-8FB24DEC58DF}"/>
              </a:ext>
            </a:extLst>
          </p:cNvPr>
          <p:cNvSpPr txBox="1"/>
          <p:nvPr/>
        </p:nvSpPr>
        <p:spPr>
          <a:xfrm>
            <a:off x="121920" y="1767840"/>
            <a:ext cx="11755120" cy="4976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F3F3BD-E964-7C00-530B-980AB9C1E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41" y="1411924"/>
            <a:ext cx="3874463" cy="55153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53B3B5-5660-5069-CD7C-6205B1391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782" y="2474117"/>
            <a:ext cx="3305636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486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65875-12B9-35F7-67F5-0D51AC95B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C9F9143-D7FD-E145-4BA8-B647BCA69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578599-811F-89D2-42B7-7C69FB0E5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E928ECC-EDA3-44E7-BE73-50F2EE8A7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F14605-9D53-CDA1-BC0B-AC3C6F03C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C94BA4-6063-8820-D538-D6F9298A8402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Production check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6726FF-564C-7BBF-C605-CE2A74832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182" y="2281077"/>
            <a:ext cx="3305636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04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602D5-8B60-CE5D-137A-938A6C792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053F65C-9C01-B3E6-A53D-0145C3AE7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31E8AC-863A-A851-4D39-8D8F393C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96CB7C-8ADC-873A-E4EC-270750C6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5940EDD-DCE0-0E61-1361-E42D43176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71364-746B-0307-32FF-F313436801E1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Post Production  support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416B9B-437E-A094-2B94-636C74522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182" y="2281077"/>
            <a:ext cx="3305636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4555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F5E4D9-459F-3EEF-0F02-181EA6DC6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51FE6DE-8852-DA10-0887-8457ADB3C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8557DF-44EA-AFAC-CF07-5EACF31E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666331B-BB30-48F6-03C5-656DB8796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4183522-C798-8699-2F82-361AD43E6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B4859D-B6D3-1CAE-B36A-B4A0A27763E7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Approach 2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391805-E0D1-52B3-9443-98E9D60DA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182" y="2281077"/>
            <a:ext cx="3305636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802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4D5CC8-F473-BFA4-2629-435F0D70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D368DCD-7038-9111-8DDA-6DBCE51FD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6CB5E9-150C-72D4-94CC-913FDDB59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D63AFB3-DE52-FF60-2B70-1F4A00785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12F0A3-E2A7-B8D5-6586-0839B3A2A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5F6F9B-D36F-C300-D278-5E926C6E60B0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Approach 3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0DF152-5A87-1C9A-64AB-39D1CF1F6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182" y="2281077"/>
            <a:ext cx="3305636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27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ACB0A2-BD8B-275D-72A7-838D79900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B6F3D03-8AEF-F03A-2075-043B01E10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E6CB08F-0DC5-934D-A0DD-3442CB1C5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116B4B2-D0BC-590D-68C9-26CF71D38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1045D38-A076-FDFE-F68A-1C26A178C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6707E-429E-CCBD-8E35-84674AF238A5}"/>
              </a:ext>
            </a:extLst>
          </p:cNvPr>
          <p:cNvSpPr txBox="1"/>
          <p:nvPr/>
        </p:nvSpPr>
        <p:spPr>
          <a:xfrm>
            <a:off x="532567" y="810141"/>
            <a:ext cx="7063721" cy="1048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135ED7-0DBC-F2D3-98AA-85459D6A1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004" y="1795234"/>
            <a:ext cx="6086788" cy="4117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481B8C-42A9-0D34-B8AB-C15885A03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503" y="5758744"/>
            <a:ext cx="2067213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877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5476</TotalTime>
  <Words>3511</Words>
  <Application>Microsoft Office PowerPoint</Application>
  <PresentationFormat>Widescreen</PresentationFormat>
  <Paragraphs>457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Wingdings</vt:lpstr>
      <vt:lpstr>Office Theme</vt:lpstr>
      <vt:lpstr>AI Engineer Applications - Problem Statement - Agentic KPI Builder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Jitendra Rai</dc:creator>
  <cp:lastModifiedBy>Jitendra Rai</cp:lastModifiedBy>
  <cp:revision>66</cp:revision>
  <dcterms:created xsi:type="dcterms:W3CDTF">2026-05-28T10:30:43Z</dcterms:created>
  <dcterms:modified xsi:type="dcterms:W3CDTF">2026-08-19T05:27:54Z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2026-05-28T10:30:43Z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2cd81ed4-d17b-42d4-b7dd-913f0d4c48a1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